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6"/>
    <p:sldMasterId id="2147483712" r:id="rId7"/>
    <p:sldMasterId id="2147483673" r:id="rId8"/>
    <p:sldMasterId id="2147483676" r:id="rId9"/>
    <p:sldMasterId id="2147483678" r:id="rId10"/>
    <p:sldMasterId id="2147483680" r:id="rId11"/>
    <p:sldMasterId id="2147483726" r:id="rId12"/>
  </p:sldMasterIdLst>
  <p:notesMasterIdLst>
    <p:notesMasterId r:id="rId30"/>
  </p:notesMasterIdLst>
  <p:sldIdLst>
    <p:sldId id="257" r:id="rId13"/>
    <p:sldId id="915" r:id="rId14"/>
    <p:sldId id="261" r:id="rId15"/>
    <p:sldId id="1033" r:id="rId16"/>
    <p:sldId id="937" r:id="rId17"/>
    <p:sldId id="1037" r:id="rId18"/>
    <p:sldId id="935" r:id="rId19"/>
    <p:sldId id="314" r:id="rId20"/>
    <p:sldId id="917" r:id="rId21"/>
    <p:sldId id="1035" r:id="rId22"/>
    <p:sldId id="1036" r:id="rId23"/>
    <p:sldId id="938" r:id="rId24"/>
    <p:sldId id="943" r:id="rId25"/>
    <p:sldId id="1034" r:id="rId26"/>
    <p:sldId id="1032" r:id="rId27"/>
    <p:sldId id="950" r:id="rId28"/>
    <p:sldId id="264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C5F0"/>
    <a:srgbClr val="00ACA8"/>
    <a:srgbClr val="4506A2"/>
    <a:srgbClr val="500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54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12" Type="http://schemas.openxmlformats.org/officeDocument/2006/relationships/slideMaster" Target="slideMasters/slideMaster7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Master" Target="slideMasters/slideMaster6.xml"/><Relationship Id="rId24" Type="http://schemas.openxmlformats.org/officeDocument/2006/relationships/slide" Target="slides/slide12.xml"/><Relationship Id="rId32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10" Type="http://schemas.openxmlformats.org/officeDocument/2006/relationships/slideMaster" Target="slideMasters/slideMaster5.xml"/><Relationship Id="rId19" Type="http://schemas.openxmlformats.org/officeDocument/2006/relationships/slide" Target="slides/slide7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831C-DEBA-4A3A-8C36-FD8115E217DA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EF5B-ECC8-43EE-A509-D601DDF42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8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43A0E-70E6-46DB-8F7C-06A0214599E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65285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52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Singl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1CF4B30C-BC0A-4BED-8EEF-4DDEF7B9FAB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46ED1-96F6-4AE8-9D3A-0266CB4B73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1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_Singl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7" name="SmartArt Placeholder 2">
            <a:extLst>
              <a:ext uri="{FF2B5EF4-FFF2-40B4-BE49-F238E27FC236}">
                <a16:creationId xmlns:a16="http://schemas.microsoft.com/office/drawing/2014/main" id="{9E969AE7-D418-4354-A166-2D9EC9AFFBD5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2D45-B478-45D6-BC5D-D958ACDFA9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6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_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48EFACD-CEB2-4692-815C-86D19FBB4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BCB907-9E7B-4CB2-B9DE-4FC3076D2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DFDF-6038-42CF-9F88-F60BDA6A7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_Two Column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469832-DACB-40B0-988E-5D708FA93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able Placeholder 4">
            <a:extLst>
              <a:ext uri="{FF2B5EF4-FFF2-40B4-BE49-F238E27FC236}">
                <a16:creationId xmlns:a16="http://schemas.microsoft.com/office/drawing/2014/main" id="{B3F0CABE-2F16-456A-A120-390FEDFE43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8BA92-8F61-4F9A-B36F-9769D72C71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_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B478DF6-0668-488C-9E0C-4567E0DE8F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EC091DE-89A6-4271-8BB9-BAB40C67B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856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1772D9-E08D-420E-AB34-CCAC26D77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44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23F99-89E3-4290-B5FE-D72F99F36E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9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_Thre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D0874136-2C1C-4222-98DA-D238FBD9743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7312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B9EA6A3E-9087-42C1-89A6-8204E100E36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32423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98BD97D8-C9D8-4E9B-90F2-C010D6EE811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273879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81E09-B357-4439-BD31-02945978E3D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0_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9C1B709-09CD-404B-B852-419096D068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D9B7F28-94B8-42B4-A97D-4EBCB20F67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B4DD6D-9400-4306-8B75-2CFF92082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D6FBD4C-557B-402F-9039-EF287BD8EA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9DDB-0B87-42B5-98DF-391316BABF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kia Whit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6683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  <a:sym typeface="Nokia Pure Text Light" panose="020B0304040602060303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  <a:ea typeface="Nokia Pure Text Light" panose="020B0304040602060303" pitchFamily="34" charset="0"/>
                <a:cs typeface="Nokia Pure Text Light" panose="020B0304040602060303" pitchFamily="34" charset="0"/>
                <a:sym typeface="Nokia Pure Text Light" panose="020B0304040602060303" pitchFamily="34" charset="0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59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4">
            <a:extLst>
              <a:ext uri="{FF2B5EF4-FFF2-40B4-BE49-F238E27FC236}">
                <a16:creationId xmlns:a16="http://schemas.microsoft.com/office/drawing/2014/main" id="{1BA9B396-E408-406E-BE50-10B81A43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/>
              <a:t>Nokia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87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577DA46-A705-4E90-9729-499F6A93D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5188681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577DA46-A705-4E90-9729-499F6A93D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F1FE949-206E-41E9-97F8-97633DFE26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  <a:sym typeface="Nokia Pure Text Light" panose="020B0304040602060303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6753EF-4F7B-41F9-BCA6-9BA10A046C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  <a:ea typeface="Nokia Pure Text Light" panose="020B0304040602060303" pitchFamily="34" charset="0"/>
                <a:cs typeface="Nokia Pure Text Light" panose="020B0304040602060303" pitchFamily="34" charset="0"/>
                <a:sym typeface="Nokia Pure Text Light" panose="020B0304040602060303" pitchFamily="34" charset="0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336C36DF-2BC6-4715-8B6D-03C3220E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/>
              <a:t>Nokia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288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Whi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tx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060000"/>
            <a:ext cx="8291898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332EC-6B80-4828-AE81-B63F414EEB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079B4-2296-4AF6-9A4A-00A11E579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73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Blue 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060000"/>
            <a:ext cx="8308800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354AD9-06FB-4C15-A48D-5001BBC6FF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1DDC49-8DAE-42EA-847C-6ED7E3A1D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8" y="34045"/>
            <a:ext cx="1589956" cy="66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86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Blue Text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9673B1-D3FB-43B2-8D91-D053CDDCAF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504A1-6308-446D-B073-C43CF250BB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90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_Blue 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01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577DA46-A705-4E90-9729-499F6A93D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976417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577DA46-A705-4E90-9729-499F6A93D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F1FE949-206E-41E9-97F8-97633DFE26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  <a:sym typeface="Nokia Pure Text Light" panose="020B0304040602060303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6753EF-4F7B-41F9-BCA6-9BA10A046C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  <a:ea typeface="Nokia Pure Text Light" panose="020B0304040602060303" pitchFamily="34" charset="0"/>
                <a:cs typeface="Nokia Pure Text Light" panose="020B0304040602060303" pitchFamily="34" charset="0"/>
                <a:sym typeface="Nokia Pure Text Light" panose="020B0304040602060303" pitchFamily="34" charset="0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336C36DF-2BC6-4715-8B6D-03C3220E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/>
              <a:t>Nokia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959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_White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916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_Gray Text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2E6FA3-ED47-4E0C-B044-550E170D1A0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49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_Gray 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&lt;Document ID: change ID in footer or remove&gt; &lt;Change information classification in footer&gt;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486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_Gray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799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75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43A0E-70E6-46DB-8F7C-06A0214599E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571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29568828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6941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Singl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1CF4B30C-BC0A-4BED-8EEF-4DDEF7B9FAB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46ED1-96F6-4AE8-9D3A-0266CB4B73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89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_Singl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7" name="SmartArt Placeholder 2">
            <a:extLst>
              <a:ext uri="{FF2B5EF4-FFF2-40B4-BE49-F238E27FC236}">
                <a16:creationId xmlns:a16="http://schemas.microsoft.com/office/drawing/2014/main" id="{9E969AE7-D418-4354-A166-2D9EC9AFFBD5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SmartArt graphic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2D45-B478-45D6-BC5D-D958ACDFA9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93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_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48EFACD-CEB2-4692-815C-86D19FBB4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BCB907-9E7B-4CB2-B9DE-4FC3076D2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DFDF-6038-42CF-9F88-F60BDA6A7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52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_Two Column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469832-DACB-40B0-988E-5D708FA93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able Placeholder 4">
            <a:extLst>
              <a:ext uri="{FF2B5EF4-FFF2-40B4-BE49-F238E27FC236}">
                <a16:creationId xmlns:a16="http://schemas.microsoft.com/office/drawing/2014/main" id="{B3F0CABE-2F16-456A-A120-390FEDFE43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8BA92-8F61-4F9A-B36F-9769D72C71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070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_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B478DF6-0668-488C-9E0C-4567E0DE8F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EC091DE-89A6-4271-8BB9-BAB40C67B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856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1772D9-E08D-420E-AB34-CCAC26D77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44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23F99-89E3-4290-B5FE-D72F99F36E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526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_Thre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D0874136-2C1C-4222-98DA-D238FBD9743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7312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B9EA6A3E-9087-42C1-89A6-8204E100E36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32423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98BD97D8-C9D8-4E9B-90F2-C010D6EE811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273879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81E09-B357-4439-BD31-02945978E3D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421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0_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9C1B709-09CD-404B-B852-419096D068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D9B7F28-94B8-42B4-A97D-4EBCB20F67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B4DD6D-9400-4306-8B75-2CFF92082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D6FBD4C-557B-402F-9039-EF287BD8EA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9DDB-0B87-42B5-98DF-391316BABF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63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1_Whi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tx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060000"/>
            <a:ext cx="8291898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332EC-6B80-4828-AE81-B63F414EEB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079B4-2296-4AF6-9A4A-00A11E579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60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1_Blue 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00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37737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DE4E-4E3C-483C-B8DE-64C03AEC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E4E1-983F-4862-9E40-9235187D6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8FE86-9238-479E-AD02-55CB2EF0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22B68-9AAE-4431-8DA9-CEE8DA013C6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20F32-CA4A-4174-BFAF-DD9C474D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FFD8-B5DD-40FF-9C34-AB23C00E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154-0660-4A9E-BEFA-FD1D6356B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9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5" r:id="rId2"/>
    <p:sldLayoutId id="2147483686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724" r:id="rId11"/>
    <p:sldLayoutId id="2147483725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C1947E-906A-46AD-9413-1921F00F19AB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A0CA059-29E1-450A-A218-D27AB73F8070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0" name="Footer Placeholder 14">
            <a:extLst>
              <a:ext uri="{FF2B5EF4-FFF2-40B4-BE49-F238E27FC236}">
                <a16:creationId xmlns:a16="http://schemas.microsoft.com/office/drawing/2014/main" id="{80DAFA2C-A5B7-47BD-9867-3032BEE12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7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9EA08E70-E40A-4C76-ADD7-CA63C957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5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6398D-C6B9-4EAD-A887-41ECEA7F30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1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4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1C3A2-73EF-4E4E-97C2-1C446243E8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8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74C75-1C44-4A6F-9F21-72B5E3ACC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8F1B2-3B70-46D3-B6FC-0199A17FB7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8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2019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botframework.org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robotframework.org/SeleniumLibrary/SeleniumLibrary.html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robotframework/SeleniumLibrary/issues" TargetMode="External"/><Relationship Id="rId4" Type="http://schemas.openxmlformats.org/officeDocument/2006/relationships/hyperlink" Target="https://github.com/robotframework/SeleniumLibrary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otframework" TargetMode="External"/><Relationship Id="rId2" Type="http://schemas.openxmlformats.org/officeDocument/2006/relationships/hyperlink" Target="https://robotframework.org/robotframework/latest/RobotFrameworkUserGuide.html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robotframework/HowToWriteGoodTestCases/blob/master/HowToWriteGoodTestCases.rst" TargetMode="External"/><Relationship Id="rId4" Type="http://schemas.openxmlformats.org/officeDocument/2006/relationships/hyperlink" Target="https://github.com/robotframework/QuickStartGuid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hyperlink" Target="https://www.saucedemo.com/" TargetMode="Externa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robotframework.org/robotframework/latest/RobotFrameworkUserGuide.html#resource-and-variable-files" TargetMode="External"/><Relationship Id="rId2" Type="http://schemas.openxmlformats.org/officeDocument/2006/relationships/hyperlink" Target="https://github.com/robotframework/HowToWriteGoodTestCases/blob/master/HowToWriteGoodTestCases.rst" TargetMode="Externa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motorcycle, object, parked, sitting&#10;&#10;Description automatically generated">
            <a:extLst>
              <a:ext uri="{FF2B5EF4-FFF2-40B4-BE49-F238E27FC236}">
                <a16:creationId xmlns:a16="http://schemas.microsoft.com/office/drawing/2014/main" id="{FCFC3A5E-FC39-444F-A338-55783A2B0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1" y="887657"/>
            <a:ext cx="4500662" cy="25803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748F3-52F3-4227-86AD-9C50826A62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681156"/>
            <a:ext cx="4617722" cy="972570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b="1" dirty="0"/>
              <a:t>Students summer practice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Ramona TICAU, Mihai PARVU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21-07-2020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373C19-240A-4085-9C5D-9AF99068938D}"/>
              </a:ext>
            </a:extLst>
          </p:cNvPr>
          <p:cNvSpPr txBox="1"/>
          <p:nvPr/>
        </p:nvSpPr>
        <p:spPr>
          <a:xfrm>
            <a:off x="4883243" y="1128516"/>
            <a:ext cx="4062878" cy="1890456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 Automation using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>
              <a:spcAft>
                <a:spcPts val="300"/>
              </a:spcAft>
              <a:buSzPct val="100000"/>
            </a:pPr>
            <a:endParaRPr lang="en-US" sz="320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Aft>
                <a:spcPts val="300"/>
              </a:spcAft>
              <a:buSzPct val="100000"/>
            </a:pPr>
            <a:r>
              <a:rPr lang="en-US" sz="320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Robot Framework</a:t>
            </a:r>
            <a:endParaRPr lang="en-US" sz="280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65CAD5-035A-40E7-ADEC-159F6CAF0C2D}"/>
              </a:ext>
            </a:extLst>
          </p:cNvPr>
          <p:cNvCxnSpPr>
            <a:cxnSpLocks/>
          </p:cNvCxnSpPr>
          <p:nvPr/>
        </p:nvCxnSpPr>
        <p:spPr>
          <a:xfrm>
            <a:off x="4796971" y="965200"/>
            <a:ext cx="0" cy="2365829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13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CEF475A4-0934-4CBE-BF78-7E92A75BC182}"/>
              </a:ext>
            </a:extLst>
          </p:cNvPr>
          <p:cNvSpPr txBox="1"/>
          <p:nvPr/>
        </p:nvSpPr>
        <p:spPr>
          <a:xfrm>
            <a:off x="1160129" y="776885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0070C0"/>
                </a:solidFill>
                <a:latin typeface="+mn-lt"/>
              </a:rPr>
              <a:t>Test Automation – what is it?</a:t>
            </a:r>
            <a:endParaRPr lang="en-US" altLang="ko-KR" sz="12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BF27FE-5410-4715-86B9-406BFD721F36}"/>
              </a:ext>
            </a:extLst>
          </p:cNvPr>
          <p:cNvSpPr txBox="1"/>
          <p:nvPr/>
        </p:nvSpPr>
        <p:spPr>
          <a:xfrm>
            <a:off x="1160129" y="1141044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Test Automation – why?</a:t>
            </a:r>
            <a:endParaRPr lang="en-US" altLang="ko-KR" sz="12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E7A495-7134-461A-8877-074195A6E629}"/>
              </a:ext>
            </a:extLst>
          </p:cNvPr>
          <p:cNvSpPr txBox="1"/>
          <p:nvPr/>
        </p:nvSpPr>
        <p:spPr>
          <a:xfrm>
            <a:off x="1160129" y="1505403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Test Automation – tools</a:t>
            </a:r>
            <a:endParaRPr lang="en-US" altLang="ko-KR" sz="12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23C53B-DED2-4677-9B6E-5C5F03253E3D}"/>
              </a:ext>
            </a:extLst>
          </p:cNvPr>
          <p:cNvSpPr txBox="1"/>
          <p:nvPr/>
        </p:nvSpPr>
        <p:spPr>
          <a:xfrm>
            <a:off x="1160129" y="1879957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Robot Framework – overview</a:t>
            </a:r>
            <a:endParaRPr lang="en-US" altLang="ko-KR" sz="12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AB1F9-20DB-4D37-B872-A0DDDCB50B5F}"/>
              </a:ext>
            </a:extLst>
          </p:cNvPr>
          <p:cNvSpPr txBox="1"/>
          <p:nvPr/>
        </p:nvSpPr>
        <p:spPr>
          <a:xfrm>
            <a:off x="1160129" y="2272329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Robot Framework – example</a:t>
            </a:r>
            <a:endParaRPr lang="en-US" altLang="ko-KR" sz="12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E642B1-3A5B-4CF3-BCB4-1C17CEC396C8}"/>
              </a:ext>
            </a:extLst>
          </p:cNvPr>
          <p:cNvSpPr txBox="1"/>
          <p:nvPr/>
        </p:nvSpPr>
        <p:spPr>
          <a:xfrm>
            <a:off x="1160129" y="2643521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Robot Framework – test data syntax</a:t>
            </a:r>
            <a:endParaRPr lang="en-US" altLang="ko-KR" sz="12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710959-4527-428F-808D-094093F54905}"/>
              </a:ext>
            </a:extLst>
          </p:cNvPr>
          <p:cNvSpPr txBox="1"/>
          <p:nvPr/>
        </p:nvSpPr>
        <p:spPr>
          <a:xfrm>
            <a:off x="1160129" y="3017900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Robot Framework – creating tests</a:t>
            </a:r>
            <a:endParaRPr lang="en-US" altLang="ko-KR" sz="12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05F864-E719-41A0-A61B-5B48CD2E88CE}"/>
              </a:ext>
            </a:extLst>
          </p:cNvPr>
          <p:cNvSpPr txBox="1"/>
          <p:nvPr/>
        </p:nvSpPr>
        <p:spPr>
          <a:xfrm>
            <a:off x="1160129" y="3415634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Selenium Library </a:t>
            </a: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–</a:t>
            </a:r>
            <a:r>
              <a:rPr lang="en-IN" altLang="ko-KR" sz="12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 overview</a:t>
            </a:r>
            <a:endParaRPr lang="en-US" altLang="ko-KR" sz="12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E8EEB3-8F95-4509-BDC3-D7AD7AD5B1DD}"/>
              </a:ext>
            </a:extLst>
          </p:cNvPr>
          <p:cNvSpPr txBox="1"/>
          <p:nvPr/>
        </p:nvSpPr>
        <p:spPr>
          <a:xfrm>
            <a:off x="1160129" y="3797111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Exercise – in classroom</a:t>
            </a:r>
            <a:endParaRPr lang="en-US" altLang="ko-KR" sz="12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6A8483-8FC3-4CFA-89A7-8947A900F0F8}"/>
              </a:ext>
            </a:extLst>
          </p:cNvPr>
          <p:cNvSpPr txBox="1"/>
          <p:nvPr/>
        </p:nvSpPr>
        <p:spPr>
          <a:xfrm>
            <a:off x="1160129" y="4178588"/>
            <a:ext cx="391024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2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Exercise </a:t>
            </a:r>
            <a:r>
              <a:rPr lang="en-IN" altLang="ko-KR" sz="12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–</a:t>
            </a:r>
            <a:r>
              <a:rPr lang="en-IN" altLang="ko-KR" sz="12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 homework</a:t>
            </a:r>
            <a:endParaRPr lang="en-US" altLang="ko-KR" sz="12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479B76-1E4B-4234-964A-E7902AA9D931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Agenda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6BFA6F-8008-41A8-B6E0-75D479210358}"/>
              </a:ext>
            </a:extLst>
          </p:cNvPr>
          <p:cNvSpPr/>
          <p:nvPr/>
        </p:nvSpPr>
        <p:spPr>
          <a:xfrm>
            <a:off x="519853" y="782964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1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9ECB0E5-D418-4114-8D1F-6C4BEA823529}"/>
              </a:ext>
            </a:extLst>
          </p:cNvPr>
          <p:cNvSpPr/>
          <p:nvPr/>
        </p:nvSpPr>
        <p:spPr>
          <a:xfrm>
            <a:off x="519853" y="1143000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2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6B65F7A-495E-4614-AC0F-5290F4999387}"/>
              </a:ext>
            </a:extLst>
          </p:cNvPr>
          <p:cNvSpPr/>
          <p:nvPr/>
        </p:nvSpPr>
        <p:spPr>
          <a:xfrm>
            <a:off x="512986" y="1500213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3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3741F19-EF8B-47A2-9395-87B1E9A946DD}"/>
              </a:ext>
            </a:extLst>
          </p:cNvPr>
          <p:cNvSpPr/>
          <p:nvPr/>
        </p:nvSpPr>
        <p:spPr>
          <a:xfrm>
            <a:off x="519853" y="1879958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4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6CC3DE7-4F15-4F0B-AF7B-95B24FDFB594}"/>
              </a:ext>
            </a:extLst>
          </p:cNvPr>
          <p:cNvSpPr/>
          <p:nvPr/>
        </p:nvSpPr>
        <p:spPr>
          <a:xfrm>
            <a:off x="519853" y="2274648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5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F932D20-7DE8-4740-9CF3-B61D78811873}"/>
              </a:ext>
            </a:extLst>
          </p:cNvPr>
          <p:cNvSpPr/>
          <p:nvPr/>
        </p:nvSpPr>
        <p:spPr>
          <a:xfrm>
            <a:off x="512985" y="4178590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10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36CDA8C-0EAD-49A8-BE7F-6043F0BC57B3}"/>
              </a:ext>
            </a:extLst>
          </p:cNvPr>
          <p:cNvSpPr/>
          <p:nvPr/>
        </p:nvSpPr>
        <p:spPr>
          <a:xfrm>
            <a:off x="512984" y="3797112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9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01EF4AA-6E9A-4C4E-A038-600A14E45FA7}"/>
              </a:ext>
            </a:extLst>
          </p:cNvPr>
          <p:cNvSpPr/>
          <p:nvPr/>
        </p:nvSpPr>
        <p:spPr>
          <a:xfrm>
            <a:off x="512983" y="3415634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8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E167C75-1E9F-4FFC-944B-2994ACA1971E}"/>
              </a:ext>
            </a:extLst>
          </p:cNvPr>
          <p:cNvSpPr/>
          <p:nvPr/>
        </p:nvSpPr>
        <p:spPr>
          <a:xfrm>
            <a:off x="512982" y="3020944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7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2A64DE3-A001-43C4-805B-82FB501E5757}"/>
              </a:ext>
            </a:extLst>
          </p:cNvPr>
          <p:cNvSpPr/>
          <p:nvPr/>
        </p:nvSpPr>
        <p:spPr>
          <a:xfrm>
            <a:off x="519853" y="2643095"/>
            <a:ext cx="382649" cy="276998"/>
          </a:xfrm>
          <a:prstGeom prst="roundRect">
            <a:avLst/>
          </a:prstGeom>
          <a:solidFill>
            <a:srgbClr val="00A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/>
              <a:t> 6</a:t>
            </a:r>
          </a:p>
        </p:txBody>
      </p:sp>
    </p:spTree>
    <p:extLst>
      <p:ext uri="{BB962C8B-B14F-4D97-AF65-F5344CB8AC3E}">
        <p14:creationId xmlns:p14="http://schemas.microsoft.com/office/powerpoint/2010/main" val="27388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D288095-95EE-4644-975F-39746C645BEE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Test Automation – What is it?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566E6068-8423-43F3-8053-7C13C83A2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46" y="580572"/>
            <a:ext cx="3875154" cy="387515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F4F4DB-AC60-481D-ABE8-BB596081A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B11E9-B4C4-40C5-9F47-7354966ACE7E}"/>
              </a:ext>
            </a:extLst>
          </p:cNvPr>
          <p:cNvSpPr txBox="1"/>
          <p:nvPr/>
        </p:nvSpPr>
        <p:spPr>
          <a:xfrm>
            <a:off x="0" y="848187"/>
            <a:ext cx="5268845" cy="573543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Manual vs. automated testing?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41403-B18F-4547-A7CE-ADB1BB438B20}"/>
              </a:ext>
            </a:extLst>
          </p:cNvPr>
          <p:cNvSpPr txBox="1"/>
          <p:nvPr/>
        </p:nvSpPr>
        <p:spPr>
          <a:xfrm>
            <a:off x="1" y="1846085"/>
            <a:ext cx="5268844" cy="717055"/>
          </a:xfrm>
          <a:prstGeom prst="rect">
            <a:avLst/>
          </a:prstGeom>
          <a:solidFill>
            <a:srgbClr val="00ACA8"/>
          </a:solidFill>
        </p:spPr>
        <p:txBody>
          <a:bodyPr vertOverflow="clip" horzOverflow="clip" wrap="squar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Test automation is the practice of running tests automatically, managing test data, and utilizing results to improve software quality.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88128-D053-4D23-8641-7EF7ADB25579}"/>
              </a:ext>
            </a:extLst>
          </p:cNvPr>
          <p:cNvSpPr txBox="1"/>
          <p:nvPr/>
        </p:nvSpPr>
        <p:spPr>
          <a:xfrm>
            <a:off x="0" y="2987495"/>
            <a:ext cx="5268844" cy="1468230"/>
          </a:xfrm>
          <a:prstGeom prst="rect">
            <a:avLst/>
          </a:prstGeom>
          <a:solidFill>
            <a:srgbClr val="00ACA8"/>
          </a:solidFill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Types of automated tests:</a:t>
            </a:r>
          </a:p>
          <a:p>
            <a:pPr marL="365760" indent="-365760" algn="l">
              <a:spcAft>
                <a:spcPts val="3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Unit tests</a:t>
            </a:r>
          </a:p>
          <a:p>
            <a:pPr marL="365760" indent="-365760" algn="l">
              <a:spcAft>
                <a:spcPts val="3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Acceptance tests</a:t>
            </a:r>
          </a:p>
          <a:p>
            <a:pPr marL="365760" indent="-365760" algn="l">
              <a:spcAft>
                <a:spcPts val="3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Smoke tests</a:t>
            </a:r>
          </a:p>
          <a:p>
            <a:pPr marL="365760" indent="-365760" algn="l">
              <a:spcAft>
                <a:spcPts val="3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Performance tests</a:t>
            </a:r>
          </a:p>
          <a:p>
            <a:pPr marL="365760" indent="-365760" algn="l">
              <a:spcAft>
                <a:spcPts val="3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26064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room&#10;&#10;Description automatically generated">
            <a:extLst>
              <a:ext uri="{FF2B5EF4-FFF2-40B4-BE49-F238E27FC236}">
                <a16:creationId xmlns:a16="http://schemas.microsoft.com/office/drawing/2014/main" id="{73361FF3-9E3D-4B45-AB03-FC5CCDBDA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521" y="1775535"/>
            <a:ext cx="5915422" cy="286528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6CABFAB-6D48-4297-95F1-F22D5A0D9959}"/>
              </a:ext>
            </a:extLst>
          </p:cNvPr>
          <p:cNvGrpSpPr/>
          <p:nvPr/>
        </p:nvGrpSpPr>
        <p:grpSpPr>
          <a:xfrm>
            <a:off x="6451600" y="672503"/>
            <a:ext cx="2786743" cy="1100457"/>
            <a:chOff x="6357257" y="40171"/>
            <a:chExt cx="2786743" cy="11004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753F15B-84A9-4E6C-94D2-1FADBA871083}"/>
                </a:ext>
              </a:extLst>
            </p:cNvPr>
            <p:cNvGrpSpPr/>
            <p:nvPr/>
          </p:nvGrpSpPr>
          <p:grpSpPr>
            <a:xfrm>
              <a:off x="6357257" y="40171"/>
              <a:ext cx="2786743" cy="1100457"/>
              <a:chOff x="5000171" y="532400"/>
              <a:chExt cx="2786743" cy="1100457"/>
            </a:xfrm>
          </p:grpSpPr>
          <p:sp>
            <p:nvSpPr>
              <p:cNvPr id="6" name="Wave 5">
                <a:extLst>
                  <a:ext uri="{FF2B5EF4-FFF2-40B4-BE49-F238E27FC236}">
                    <a16:creationId xmlns:a16="http://schemas.microsoft.com/office/drawing/2014/main" id="{CB1AA2CF-E975-4C01-B1CB-C471539FBFD6}"/>
                  </a:ext>
                </a:extLst>
              </p:cNvPr>
              <p:cNvSpPr/>
              <p:nvPr/>
            </p:nvSpPr>
            <p:spPr>
              <a:xfrm>
                <a:off x="5000171" y="532400"/>
                <a:ext cx="2474686" cy="1100457"/>
              </a:xfrm>
              <a:prstGeom prst="wav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spcAft>
                    <a:spcPts val="300"/>
                  </a:spcAft>
                  <a:buSzPct val="100000"/>
                </a:pPr>
                <a:endParaRPr lang="en-US" sz="1200" dirty="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CE8FA-55C8-4896-8DD5-F758775C8707}"/>
                  </a:ext>
                </a:extLst>
              </p:cNvPr>
              <p:cNvSpPr txBox="1"/>
              <p:nvPr/>
            </p:nvSpPr>
            <p:spPr>
              <a:xfrm>
                <a:off x="5435600" y="878912"/>
                <a:ext cx="2351314" cy="425600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rtlCol="0">
                <a:noAutofit/>
              </a:bodyPr>
              <a:lstStyle/>
              <a:p>
                <a:pPr algn="l">
                  <a:spcAft>
                    <a:spcPts val="300"/>
                  </a:spcAft>
                  <a:buSzPct val="100000"/>
                </a:pPr>
                <a:r>
                  <a:rPr lang="en-US" sz="1600" b="1" dirty="0">
                    <a:solidFill>
                      <a:schemeClr val="tx2"/>
                    </a:solidFill>
                  </a:rPr>
                  <a:t>    Quality Assurance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D7F86C5-0874-4FC7-97FE-77409D8627E2}"/>
                </a:ext>
              </a:extLst>
            </p:cNvPr>
            <p:cNvSpPr txBox="1"/>
            <p:nvPr/>
          </p:nvSpPr>
          <p:spPr>
            <a:xfrm>
              <a:off x="6399118" y="133199"/>
              <a:ext cx="914400" cy="914400"/>
            </a:xfrm>
            <a:prstGeom prst="rect">
              <a:avLst/>
            </a:prstGeom>
            <a:noFill/>
          </p:spPr>
          <p:txBody>
            <a:bodyPr wrap="none" lIns="72000" tIns="72000" rIns="72000" bIns="72000" rtlCol="0">
              <a:noAutofit/>
            </a:bodyPr>
            <a:lstStyle/>
            <a:p>
              <a:pPr marL="171450" indent="-171450" algn="l">
                <a:spcAft>
                  <a:spcPts val="300"/>
                </a:spcAft>
                <a:buSzPct val="100000"/>
                <a:buFont typeface="Wingdings" panose="05000000000000000000" pitchFamily="2" charset="2"/>
                <a:buChar char="ü"/>
              </a:pPr>
              <a:r>
                <a:rPr lang="en-US" sz="4800" dirty="0">
                  <a:solidFill>
                    <a:srgbClr val="00B050"/>
                  </a:solidFill>
                </a:rPr>
                <a:t>  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B43B59E-1714-4734-AEF9-377D4C0952D4}"/>
              </a:ext>
            </a:extLst>
          </p:cNvPr>
          <p:cNvSpPr txBox="1"/>
          <p:nvPr/>
        </p:nvSpPr>
        <p:spPr>
          <a:xfrm>
            <a:off x="39378" y="812577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Save time by less manual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D2099-CF92-4C7F-B133-488B69A00E80}"/>
              </a:ext>
            </a:extLst>
          </p:cNvPr>
          <p:cNvSpPr txBox="1"/>
          <p:nvPr/>
        </p:nvSpPr>
        <p:spPr>
          <a:xfrm>
            <a:off x="39380" y="1324930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Repeatability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9277C-2888-44F7-A91C-7FD22AD471CB}"/>
              </a:ext>
            </a:extLst>
          </p:cNvPr>
          <p:cNvSpPr txBox="1"/>
          <p:nvPr/>
        </p:nvSpPr>
        <p:spPr>
          <a:xfrm>
            <a:off x="39380" y="1837972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Reusability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74A6B-C803-4EF8-B93F-CCF37E996298}"/>
              </a:ext>
            </a:extLst>
          </p:cNvPr>
          <p:cNvSpPr txBox="1"/>
          <p:nvPr/>
        </p:nvSpPr>
        <p:spPr>
          <a:xfrm>
            <a:off x="39379" y="2822923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Early detection of defects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3EC47-1D3C-4052-8818-2E1E9E79E944}"/>
              </a:ext>
            </a:extLst>
          </p:cNvPr>
          <p:cNvSpPr txBox="1"/>
          <p:nvPr/>
        </p:nvSpPr>
        <p:spPr>
          <a:xfrm>
            <a:off x="39379" y="3335965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24/7 execution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607D7-6E7D-4D29-B1E2-A745EFA4C2C1}"/>
              </a:ext>
            </a:extLst>
          </p:cNvPr>
          <p:cNvSpPr txBox="1"/>
          <p:nvPr/>
        </p:nvSpPr>
        <p:spPr>
          <a:xfrm>
            <a:off x="39379" y="3845347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Fast to execute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0C9B2-8D22-4AF4-8C83-97B04394658D}"/>
              </a:ext>
            </a:extLst>
          </p:cNvPr>
          <p:cNvSpPr txBox="1"/>
          <p:nvPr/>
        </p:nvSpPr>
        <p:spPr>
          <a:xfrm>
            <a:off x="39378" y="4317658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Increase test coverage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789C4B-6774-46DB-A42E-79891E16E6CA}"/>
              </a:ext>
            </a:extLst>
          </p:cNvPr>
          <p:cNvSpPr txBox="1"/>
          <p:nvPr/>
        </p:nvSpPr>
        <p:spPr>
          <a:xfrm>
            <a:off x="39378" y="2347354"/>
            <a:ext cx="2877143" cy="309600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Programable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10B47D-817D-42AD-8C0D-9969E012AD8B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Test Automation – Why?</a:t>
            </a:r>
          </a:p>
        </p:txBody>
      </p:sp>
    </p:spTree>
    <p:extLst>
      <p:ext uri="{BB962C8B-B14F-4D97-AF65-F5344CB8AC3E}">
        <p14:creationId xmlns:p14="http://schemas.microsoft.com/office/powerpoint/2010/main" val="327642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picture containing table&#10;&#10;Description automatically generated">
            <a:extLst>
              <a:ext uri="{FF2B5EF4-FFF2-40B4-BE49-F238E27FC236}">
                <a16:creationId xmlns:a16="http://schemas.microsoft.com/office/drawing/2014/main" id="{56DC1903-0D5E-436F-B67D-C234C7AE5D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023"/>
            <a:ext cx="9144000" cy="428625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BFF1BA9-0EE6-4E49-BF71-137B5D3B98E5}"/>
              </a:ext>
            </a:extLst>
          </p:cNvPr>
          <p:cNvGrpSpPr/>
          <p:nvPr/>
        </p:nvGrpSpPr>
        <p:grpSpPr>
          <a:xfrm>
            <a:off x="622056" y="3528432"/>
            <a:ext cx="7729235" cy="1277439"/>
            <a:chOff x="490438" y="3592195"/>
            <a:chExt cx="7729235" cy="127743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4FF5E25-956C-48C9-AF81-A743CD4C8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4676" y="3592195"/>
              <a:ext cx="3044997" cy="1277439"/>
            </a:xfrm>
            <a:prstGeom prst="rect">
              <a:avLst/>
            </a:prstGeom>
          </p:spPr>
        </p:pic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C5391EA2-A00C-4A6F-B5FD-7A7BF0A7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438" y="3595024"/>
              <a:ext cx="4684235" cy="124568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D64430-574F-4326-83D7-FD5A416B880A}"/>
              </a:ext>
            </a:extLst>
          </p:cNvPr>
          <p:cNvSpPr/>
          <p:nvPr/>
        </p:nvSpPr>
        <p:spPr>
          <a:xfrm>
            <a:off x="0" y="857320"/>
            <a:ext cx="30842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A </a:t>
            </a:r>
            <a:r>
              <a:rPr lang="en-US" sz="1200" b="1" dirty="0">
                <a:solidFill>
                  <a:srgbClr val="00ACA8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test automation tool </a:t>
            </a:r>
            <a:r>
              <a:rPr lang="en-US" sz="1200" dirty="0">
                <a:solidFill>
                  <a:schemeClr val="tx2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is a piece of software that enables people to define software testing tasks, that are afterwards run with as little human interaction as possible.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80B41B-7CB1-43CA-8352-CCABFEAEE4C7}"/>
              </a:ext>
            </a:extLst>
          </p:cNvPr>
          <p:cNvSpPr/>
          <p:nvPr/>
        </p:nvSpPr>
        <p:spPr>
          <a:xfrm>
            <a:off x="2496458" y="2041788"/>
            <a:ext cx="65169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There are a plethora of </a:t>
            </a:r>
            <a:r>
              <a:rPr lang="en-US" sz="1200" b="1" dirty="0">
                <a:solidFill>
                  <a:srgbClr val="00ACA8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different types of test automation tools available</a:t>
            </a:r>
            <a:r>
              <a:rPr lang="en-US" sz="1200" b="1" dirty="0">
                <a:solidFill>
                  <a:srgbClr val="00B0F0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and they differ in: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066BC8-9C5B-4324-9F63-E67D428D4C90}"/>
              </a:ext>
            </a:extLst>
          </p:cNvPr>
          <p:cNvSpPr/>
          <p:nvPr/>
        </p:nvSpPr>
        <p:spPr>
          <a:xfrm>
            <a:off x="2583543" y="2280522"/>
            <a:ext cx="66815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2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types of application they test (web, desktop, mobile),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2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the way the test cases are set up (by writing code using a scripting language, writing code in a full programming language, recording steps performed using a GUI),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2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their licenses (free, freemium, commercial)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4029EA-D099-42B3-8220-724CAB4A8356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Test Automation – tools</a:t>
            </a:r>
          </a:p>
        </p:txBody>
      </p:sp>
    </p:spTree>
    <p:extLst>
      <p:ext uri="{BB962C8B-B14F-4D97-AF65-F5344CB8AC3E}">
        <p14:creationId xmlns:p14="http://schemas.microsoft.com/office/powerpoint/2010/main" val="84815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354F0A-B37E-4D16-A59D-F90319281428}"/>
              </a:ext>
            </a:extLst>
          </p:cNvPr>
          <p:cNvSpPr/>
          <p:nvPr/>
        </p:nvSpPr>
        <p:spPr>
          <a:xfrm>
            <a:off x="0" y="763716"/>
            <a:ext cx="9143999" cy="2173608"/>
          </a:xfrm>
          <a:prstGeom prst="rect">
            <a:avLst/>
          </a:prstGeom>
          <a:solidFill>
            <a:srgbClr val="00ACA8"/>
          </a:solidFill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Robot Framework is a </a:t>
            </a:r>
            <a:r>
              <a:rPr lang="en-US" sz="1400" b="1" u="sng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generic test automation framework </a:t>
            </a: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very suitable for even those who are not too familiar with programming. </a:t>
            </a:r>
          </a:p>
          <a:p>
            <a:endParaRPr lang="en-US" sz="1200" dirty="0">
              <a:solidFill>
                <a:schemeClr val="bg1"/>
              </a:solidFill>
              <a:latin typeface="Nokia Pure Text" panose="020B0504040602060303" pitchFamily="34" charset="0"/>
              <a:ea typeface="Nokia Pure Text" panose="020B0504040602060303" pitchFamily="34" charset="0"/>
              <a:cs typeface="Nokia Pure Text" panose="020B0504040602060303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u="sng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keyword driven </a:t>
            </a: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-&gt; easy to read and understand,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reusability,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open source </a:t>
            </a: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(it’s free for everyone!),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full </a:t>
            </a:r>
            <a:r>
              <a:rPr lang="en-US" sz="1400" b="1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extendibility</a:t>
            </a: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with Python, Java and other programming languages,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flexibility: it can be used in almost any environment (mobile, web, embedded systems - you name it!)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318461-6F36-4E1A-89BD-B8E6ADEECABB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Robot Framework –overview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2551E5-FA44-48AD-953E-9F18E9AF5067}"/>
              </a:ext>
            </a:extLst>
          </p:cNvPr>
          <p:cNvGrpSpPr/>
          <p:nvPr/>
        </p:nvGrpSpPr>
        <p:grpSpPr>
          <a:xfrm>
            <a:off x="251192" y="3053419"/>
            <a:ext cx="8589897" cy="1705220"/>
            <a:chOff x="251192" y="3053419"/>
            <a:chExt cx="8589897" cy="17052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33F17F-1FE8-480B-99CE-18F16F3CE732}"/>
                </a:ext>
              </a:extLst>
            </p:cNvPr>
            <p:cNvGrpSpPr/>
            <p:nvPr/>
          </p:nvGrpSpPr>
          <p:grpSpPr>
            <a:xfrm>
              <a:off x="251192" y="3053419"/>
              <a:ext cx="8589897" cy="1705220"/>
              <a:chOff x="251192" y="3053419"/>
              <a:chExt cx="8589897" cy="170522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C60C27D-7E88-473E-88CA-C8285D523EF3}"/>
                  </a:ext>
                </a:extLst>
              </p:cNvPr>
              <p:cNvGrpSpPr/>
              <p:nvPr/>
            </p:nvGrpSpPr>
            <p:grpSpPr>
              <a:xfrm>
                <a:off x="251192" y="3261088"/>
                <a:ext cx="8475783" cy="1497551"/>
                <a:chOff x="250689" y="3210288"/>
                <a:chExt cx="8475783" cy="1497551"/>
              </a:xfrm>
            </p:grpSpPr>
            <p:sp>
              <p:nvSpPr>
                <p:cNvPr id="4" name="Straight Connector 3">
                  <a:extLst>
                    <a:ext uri="{FF2B5EF4-FFF2-40B4-BE49-F238E27FC236}">
                      <a16:creationId xmlns:a16="http://schemas.microsoft.com/office/drawing/2014/main" id="{88AC5535-BB7E-4DF8-8516-AC9DA6965452}"/>
                    </a:ext>
                  </a:extLst>
                </p:cNvPr>
                <p:cNvSpPr/>
                <p:nvPr/>
              </p:nvSpPr>
              <p:spPr>
                <a:xfrm>
                  <a:off x="250689" y="4707839"/>
                  <a:ext cx="8423563" cy="0"/>
                </a:xfrm>
                <a:prstGeom prst="line">
                  <a:avLst/>
                </a:prstGeom>
              </p:spPr>
              <p:style>
                <a:lnRef idx="2">
                  <a:schemeClr val="accent2"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5" name="Straight Connector 4">
                  <a:extLst>
                    <a:ext uri="{FF2B5EF4-FFF2-40B4-BE49-F238E27FC236}">
                      <a16:creationId xmlns:a16="http://schemas.microsoft.com/office/drawing/2014/main" id="{1AD6E61D-D944-4C40-B1F6-604E7387B115}"/>
                    </a:ext>
                  </a:extLst>
                </p:cNvPr>
                <p:cNvSpPr/>
                <p:nvPr/>
              </p:nvSpPr>
              <p:spPr>
                <a:xfrm>
                  <a:off x="302909" y="4149037"/>
                  <a:ext cx="8423563" cy="0"/>
                </a:xfrm>
                <a:prstGeom prst="line">
                  <a:avLst/>
                </a:prstGeom>
              </p:spPr>
              <p:style>
                <a:lnRef idx="2">
                  <a:schemeClr val="accent2"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7" name="Straight Connector 6">
                  <a:extLst>
                    <a:ext uri="{FF2B5EF4-FFF2-40B4-BE49-F238E27FC236}">
                      <a16:creationId xmlns:a16="http://schemas.microsoft.com/office/drawing/2014/main" id="{B0698D53-0367-482A-B1FF-6A1F98C98D29}"/>
                    </a:ext>
                  </a:extLst>
                </p:cNvPr>
                <p:cNvSpPr/>
                <p:nvPr/>
              </p:nvSpPr>
              <p:spPr>
                <a:xfrm>
                  <a:off x="302909" y="3591774"/>
                  <a:ext cx="8423563" cy="0"/>
                </a:xfrm>
                <a:prstGeom prst="line">
                  <a:avLst/>
                </a:prstGeom>
              </p:spPr>
              <p:style>
                <a:lnRef idx="2">
                  <a:schemeClr val="accent2"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E4924D50-9882-4598-8034-915CEDC8C8E7}"/>
                    </a:ext>
                  </a:extLst>
                </p:cNvPr>
                <p:cNvSpPr/>
                <p:nvPr/>
              </p:nvSpPr>
              <p:spPr>
                <a:xfrm>
                  <a:off x="2041703" y="3210288"/>
                  <a:ext cx="6083273" cy="273812"/>
                </a:xfrm>
                <a:custGeom>
                  <a:avLst/>
                  <a:gdLst>
                    <a:gd name="connsiteX0" fmla="*/ 0 w 6083273"/>
                    <a:gd name="connsiteY0" fmla="*/ 0 h 273812"/>
                    <a:gd name="connsiteX1" fmla="*/ 6083273 w 6083273"/>
                    <a:gd name="connsiteY1" fmla="*/ 0 h 273812"/>
                    <a:gd name="connsiteX2" fmla="*/ 6083273 w 6083273"/>
                    <a:gd name="connsiteY2" fmla="*/ 273812 h 273812"/>
                    <a:gd name="connsiteX3" fmla="*/ 0 w 6083273"/>
                    <a:gd name="connsiteY3" fmla="*/ 273812 h 273812"/>
                    <a:gd name="connsiteX4" fmla="*/ 0 w 6083273"/>
                    <a:gd name="connsiteY4" fmla="*/ 0 h 273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83273" h="273812">
                      <a:moveTo>
                        <a:pt x="0" y="0"/>
                      </a:moveTo>
                      <a:lnTo>
                        <a:pt x="6083273" y="0"/>
                      </a:lnTo>
                      <a:lnTo>
                        <a:pt x="6083273" y="273812"/>
                      </a:lnTo>
                      <a:lnTo>
                        <a:pt x="0" y="2738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22860" tIns="22860" rIns="22860" bIns="22860" numCol="1" spcCol="1270" anchor="b" anchorCtr="0">
                  <a:noAutofit/>
                </a:bodyPr>
                <a:lstStyle/>
                <a:p>
                  <a:pPr marL="0" lvl="0" indent="0" algn="l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Development started by Pekka Klärck, for </a:t>
                  </a:r>
                  <a:r>
                    <a:rPr lang="en-US" sz="1200" b="1" kern="1200" dirty="0"/>
                    <a:t>Nokia Networks</a:t>
                  </a: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A08D7295-F483-47A4-BD11-0FFB71754539}"/>
                    </a:ext>
                  </a:extLst>
                </p:cNvPr>
                <p:cNvSpPr/>
                <p:nvPr/>
              </p:nvSpPr>
              <p:spPr>
                <a:xfrm>
                  <a:off x="2034721" y="3717883"/>
                  <a:ext cx="6097111" cy="317730"/>
                </a:xfrm>
                <a:custGeom>
                  <a:avLst/>
                  <a:gdLst>
                    <a:gd name="connsiteX0" fmla="*/ 0 w 6097111"/>
                    <a:gd name="connsiteY0" fmla="*/ 0 h 317730"/>
                    <a:gd name="connsiteX1" fmla="*/ 6097111 w 6097111"/>
                    <a:gd name="connsiteY1" fmla="*/ 0 h 317730"/>
                    <a:gd name="connsiteX2" fmla="*/ 6097111 w 6097111"/>
                    <a:gd name="connsiteY2" fmla="*/ 317730 h 317730"/>
                    <a:gd name="connsiteX3" fmla="*/ 0 w 6097111"/>
                    <a:gd name="connsiteY3" fmla="*/ 317730 h 317730"/>
                    <a:gd name="connsiteX4" fmla="*/ 0 w 6097111"/>
                    <a:gd name="connsiteY4" fmla="*/ 0 h 317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97111" h="317730">
                      <a:moveTo>
                        <a:pt x="0" y="0"/>
                      </a:moveTo>
                      <a:lnTo>
                        <a:pt x="6097111" y="0"/>
                      </a:lnTo>
                      <a:lnTo>
                        <a:pt x="6097111" y="317730"/>
                      </a:lnTo>
                      <a:lnTo>
                        <a:pt x="0" y="3177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22860" tIns="22860" rIns="22860" bIns="22860" numCol="1" spcCol="1270" anchor="b" anchorCtr="0">
                  <a:noAutofit/>
                </a:bodyPr>
                <a:lstStyle/>
                <a:p>
                  <a:pPr marL="0" lvl="0" indent="0" algn="l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b="0" i="0" kern="1200" dirty="0"/>
                    <a:t>Robot Framework 2.0 was released as </a:t>
                  </a:r>
                  <a:r>
                    <a:rPr lang="en-US" sz="1200" b="1" i="0" kern="1200" dirty="0"/>
                    <a:t>open source.</a:t>
                  </a:r>
                  <a:endParaRPr lang="en-US" sz="1200" b="1" kern="1200" dirty="0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C8DFBAFB-861A-4446-859C-676E3247672D}"/>
                    </a:ext>
                  </a:extLst>
                </p:cNvPr>
                <p:cNvSpPr/>
                <p:nvPr/>
              </p:nvSpPr>
              <p:spPr>
                <a:xfrm>
                  <a:off x="2038539" y="4127092"/>
                  <a:ext cx="6442319" cy="533804"/>
                </a:xfrm>
                <a:custGeom>
                  <a:avLst/>
                  <a:gdLst>
                    <a:gd name="connsiteX0" fmla="*/ 0 w 6442319"/>
                    <a:gd name="connsiteY0" fmla="*/ 0 h 533804"/>
                    <a:gd name="connsiteX1" fmla="*/ 6442319 w 6442319"/>
                    <a:gd name="connsiteY1" fmla="*/ 0 h 533804"/>
                    <a:gd name="connsiteX2" fmla="*/ 6442319 w 6442319"/>
                    <a:gd name="connsiteY2" fmla="*/ 533804 h 533804"/>
                    <a:gd name="connsiteX3" fmla="*/ 0 w 6442319"/>
                    <a:gd name="connsiteY3" fmla="*/ 533804 h 533804"/>
                    <a:gd name="connsiteX4" fmla="*/ 0 w 6442319"/>
                    <a:gd name="connsiteY4" fmla="*/ 0 h 533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42319" h="533804">
                      <a:moveTo>
                        <a:pt x="0" y="0"/>
                      </a:moveTo>
                      <a:lnTo>
                        <a:pt x="6442319" y="0"/>
                      </a:lnTo>
                      <a:lnTo>
                        <a:pt x="6442319" y="533804"/>
                      </a:lnTo>
                      <a:lnTo>
                        <a:pt x="0" y="53380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20955" tIns="20955" rIns="20955" bIns="20955" numCol="1" spcCol="1270" anchor="b" anchorCtr="0">
                  <a:noAutofit/>
                </a:bodyPr>
                <a:lstStyle/>
                <a:p>
                  <a:pPr marL="0" lvl="0" indent="0" algn="l" defTabSz="4889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100" kern="1200" dirty="0"/>
                    <a:t>Numerous external libraries and a </a:t>
                  </a:r>
                  <a:r>
                    <a:rPr lang="en-US" sz="1100" b="1" kern="1200" dirty="0"/>
                    <a:t>huge community of users.</a:t>
                  </a:r>
                </a:p>
                <a:p>
                  <a:pPr marL="0" lvl="0" indent="0" algn="l" defTabSz="4889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100" b="1" i="0" kern="1200" dirty="0"/>
                    <a:t>Actively supported by</a:t>
                  </a:r>
                  <a:r>
                    <a:rPr lang="en-US" sz="1100" b="0" i="0" kern="1200" dirty="0"/>
                    <a:t> many industry-leading </a:t>
                  </a:r>
                  <a:r>
                    <a:rPr lang="en-US" sz="1100" b="1" i="0" kern="1200" dirty="0"/>
                    <a:t>companies.</a:t>
                  </a:r>
                  <a:endParaRPr lang="en-US" sz="1100" b="1" kern="1200" dirty="0"/>
                </a:p>
              </p:txBody>
            </p:sp>
          </p:grpSp>
          <p:pic>
            <p:nvPicPr>
              <p:cNvPr id="8" name="Picture 7" descr="A person posing for the camera&#10;&#10;Description automatically generated">
                <a:extLst>
                  <a:ext uri="{FF2B5EF4-FFF2-40B4-BE49-F238E27FC236}">
                    <a16:creationId xmlns:a16="http://schemas.microsoft.com/office/drawing/2014/main" id="{32366A97-130A-4782-9F30-64B719BC45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7340" y="3056075"/>
                <a:ext cx="536054" cy="536054"/>
              </a:xfrm>
              <a:prstGeom prst="rect">
                <a:avLst/>
              </a:prstGeom>
            </p:spPr>
          </p:pic>
          <p:pic>
            <p:nvPicPr>
              <p:cNvPr id="10" name="Picture 9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FDD93A6C-FAE1-4F01-A48B-F8FDCC94C6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15427" y="3612530"/>
                <a:ext cx="716910" cy="528105"/>
              </a:xfrm>
              <a:prstGeom prst="rect">
                <a:avLst/>
              </a:prstGeom>
            </p:spPr>
          </p:pic>
          <p:pic>
            <p:nvPicPr>
              <p:cNvPr id="12" name="Picture 11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F85A6BE9-5239-4159-9D90-81A7960C63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8265" y="3053419"/>
                <a:ext cx="538710" cy="53871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4ADF69C-0F3B-4A29-82AE-60F85D0A7C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91204" y="3465708"/>
                <a:ext cx="807893" cy="807893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7CD16B-8D1A-4C68-BAB7-AD7D74DD4D0F}"/>
                  </a:ext>
                </a:extLst>
              </p:cNvPr>
              <p:cNvSpPr/>
              <p:nvPr/>
            </p:nvSpPr>
            <p:spPr>
              <a:xfrm>
                <a:off x="6644654" y="4284527"/>
                <a:ext cx="2196435" cy="276999"/>
              </a:xfrm>
              <a:prstGeom prst="rect">
                <a:avLst/>
              </a:prstGeom>
              <a:solidFill>
                <a:srgbClr val="00ACA8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https://robotframework.org</a:t>
                </a:r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55023F8-C4B1-48C8-B098-A249E77C6762}"/>
                </a:ext>
              </a:extLst>
            </p:cNvPr>
            <p:cNvSpPr txBox="1"/>
            <p:nvPr/>
          </p:nvSpPr>
          <p:spPr>
            <a:xfrm>
              <a:off x="634034" y="3078438"/>
              <a:ext cx="979791" cy="534081"/>
            </a:xfrm>
            <a:prstGeom prst="rect">
              <a:avLst/>
            </a:prstGeom>
            <a:noFill/>
          </p:spPr>
          <p:txBody>
            <a:bodyPr wrap="none" lIns="72000" tIns="72000" rIns="72000" bIns="72000" rtlCol="0"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r>
                <a:rPr lang="en-US" sz="2800" b="1" dirty="0">
                  <a:solidFill>
                    <a:schemeClr val="tx1">
                      <a:lumMod val="75000"/>
                    </a:schemeClr>
                  </a:solidFill>
                  <a:latin typeface="Calibri" panose="020F0502020204030204" pitchFamily="34" charset="0"/>
                  <a:ea typeface="Nokia Pure Text" panose="020B0504040602060303" pitchFamily="34" charset="0"/>
                  <a:cs typeface="Calibri" panose="020F0502020204030204" pitchFamily="34" charset="0"/>
                </a:rPr>
                <a:t>2005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5F0C39-B489-4344-999A-8E005D414E23}"/>
                </a:ext>
              </a:extLst>
            </p:cNvPr>
            <p:cNvSpPr txBox="1"/>
            <p:nvPr/>
          </p:nvSpPr>
          <p:spPr>
            <a:xfrm>
              <a:off x="634034" y="3584669"/>
              <a:ext cx="979791" cy="534081"/>
            </a:xfrm>
            <a:prstGeom prst="rect">
              <a:avLst/>
            </a:prstGeom>
            <a:noFill/>
          </p:spPr>
          <p:txBody>
            <a:bodyPr wrap="none" lIns="72000" tIns="72000" rIns="72000" bIns="72000" rtlCol="0"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r>
                <a:rPr lang="en-US" sz="2800" b="1" dirty="0">
                  <a:solidFill>
                    <a:srgbClr val="00B0F0"/>
                  </a:solidFill>
                  <a:latin typeface="Calibri" panose="020F0502020204030204" pitchFamily="34" charset="0"/>
                  <a:ea typeface="Nokia Pure Text" panose="020B0504040602060303" pitchFamily="34" charset="0"/>
                  <a:cs typeface="Calibri" panose="020F0502020204030204" pitchFamily="34" charset="0"/>
                </a:rPr>
                <a:t>2008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9D0590-DEAF-4430-9D70-6AD65F549FCD}"/>
                </a:ext>
              </a:extLst>
            </p:cNvPr>
            <p:cNvSpPr txBox="1"/>
            <p:nvPr/>
          </p:nvSpPr>
          <p:spPr>
            <a:xfrm>
              <a:off x="296951" y="4141931"/>
              <a:ext cx="1611679" cy="534081"/>
            </a:xfrm>
            <a:prstGeom prst="rect">
              <a:avLst/>
            </a:prstGeom>
            <a:noFill/>
          </p:spPr>
          <p:txBody>
            <a:bodyPr wrap="none" lIns="72000" tIns="72000" rIns="72000" bIns="72000" rtlCol="0"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r>
                <a:rPr lang="en-US" sz="2800" b="1" dirty="0">
                  <a:solidFill>
                    <a:srgbClr val="009999"/>
                  </a:solidFill>
                  <a:latin typeface="Calibri" panose="020F0502020204030204" pitchFamily="34" charset="0"/>
                  <a:ea typeface="Nokia Pure Text" panose="020B0504040602060303" pitchFamily="34" charset="0"/>
                  <a:cs typeface="Calibri" panose="020F0502020204030204" pitchFamily="34" charset="0"/>
                </a:rPr>
                <a:t>nowadays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672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57F1C2-E6B5-440B-A966-061B25EBA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286" y="639874"/>
            <a:ext cx="3817257" cy="4084526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dirty="0">
                <a:solidFill>
                  <a:srgbClr val="FFFFFF"/>
                </a:solidFill>
                <a:latin typeface="Courier"/>
              </a:rPr>
              <a:t>*** Keywords ***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>
                <a:solidFill>
                  <a:srgbClr val="FFFFFF"/>
                </a:solidFill>
                <a:latin typeface="Courier"/>
              </a:rPr>
              <a:t>Open Browser To Login Page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Open Browser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LOGIN URL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BROWSER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Maximize Browser Window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Set Selenium Speed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DELAY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Login Page Should Be Open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>
                <a:solidFill>
                  <a:srgbClr val="FFFFFF"/>
                </a:solidFill>
                <a:latin typeface="Courier"/>
              </a:rPr>
              <a:t>Login Page Should Be Open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Title Should Be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Login Page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>
                <a:solidFill>
                  <a:srgbClr val="FFFFFF"/>
                </a:solidFill>
                <a:latin typeface="Courier"/>
              </a:rPr>
              <a:t>Go To Login Page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Go To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LOGIN URL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Login Page Should Be Open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>
                <a:solidFill>
                  <a:srgbClr val="FFFFFF"/>
                </a:solidFill>
                <a:latin typeface="Courier"/>
              </a:rPr>
              <a:t>Input Username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   [</a:t>
            </a:r>
            <a:r>
              <a:rPr lang="en-US" altLang="en-US" sz="900" b="1" dirty="0">
                <a:solidFill>
                  <a:srgbClr val="6AB825"/>
                </a:solidFill>
                <a:latin typeface="Courier"/>
              </a:rPr>
              <a:t>Arguments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]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username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900" dirty="0" err="1">
                <a:solidFill>
                  <a:srgbClr val="ED9D13"/>
                </a:solidFill>
                <a:latin typeface="Courier"/>
              </a:rPr>
              <a:t>username_field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username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>
                <a:solidFill>
                  <a:srgbClr val="FFFFFF"/>
                </a:solidFill>
                <a:latin typeface="Courier"/>
              </a:rPr>
              <a:t>Input Password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   [</a:t>
            </a:r>
            <a:r>
              <a:rPr lang="en-US" altLang="en-US" sz="900" b="1" dirty="0">
                <a:solidFill>
                  <a:srgbClr val="6AB825"/>
                </a:solidFill>
                <a:latin typeface="Courier"/>
              </a:rPr>
              <a:t>Arguments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]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password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900" dirty="0" err="1">
                <a:solidFill>
                  <a:srgbClr val="ED9D13"/>
                </a:solidFill>
                <a:latin typeface="Courier"/>
              </a:rPr>
              <a:t>password_field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password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>
                <a:solidFill>
                  <a:srgbClr val="FFFFFF"/>
                </a:solidFill>
                <a:latin typeface="Courier"/>
              </a:rPr>
              <a:t>Submit Credentials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Click Button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900" dirty="0" err="1">
                <a:solidFill>
                  <a:srgbClr val="ED9D13"/>
                </a:solidFill>
                <a:latin typeface="Courier"/>
              </a:rPr>
              <a:t>login_button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>
                <a:solidFill>
                  <a:srgbClr val="FFFFFF"/>
                </a:solidFill>
                <a:latin typeface="Courier"/>
              </a:rPr>
              <a:t>Welcome Page Should Be Open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Location Should Be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WELCOME URL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447FCF"/>
                </a:solidFill>
                <a:latin typeface="Courier"/>
              </a:rPr>
              <a:t>    Title Should Be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Welcome Page</a:t>
            </a:r>
            <a:r>
              <a:rPr lang="en-US" altLang="en-US" sz="900" dirty="0"/>
              <a:t> </a:t>
            </a: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D8062B-BB0D-4B25-AF36-5E4809BEE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00" y="639874"/>
            <a:ext cx="4503414" cy="4084526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*** Settings ***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6AB825"/>
                </a:solidFill>
                <a:effectLst/>
                <a:latin typeface="Courier"/>
              </a:rPr>
              <a:t>Documentation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D9D13"/>
                </a:solidFill>
                <a:effectLst/>
                <a:latin typeface="Courier"/>
              </a:rPr>
              <a:t>A test suite with a single test for valid login.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...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D9D13"/>
                </a:solidFill>
                <a:effectLst/>
                <a:latin typeface="Courier"/>
              </a:rPr>
              <a:t>This test has a workflow that is created using keywords in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...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D9D13"/>
                </a:solidFill>
                <a:effectLst/>
                <a:latin typeface="Courier"/>
              </a:rPr>
              <a:t>the imported resource file.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6AB825"/>
                </a:solidFill>
                <a:effectLst/>
                <a:latin typeface="Courier"/>
              </a:rPr>
              <a:t>Library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r>
              <a:rPr kumimoji="0" lang="en-US" altLang="en-US" sz="900" b="0" i="0" u="sng" strike="noStrike" cap="none" normalizeH="0" baseline="0" dirty="0" err="1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SeleniumLibrary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rgbClr val="D0D0D0"/>
              </a:solidFill>
              <a:effectLst/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dirty="0">
                <a:solidFill>
                  <a:srgbClr val="FFFFFF"/>
                </a:solidFill>
                <a:latin typeface="Courier"/>
              </a:rPr>
              <a:t>*** Variables ***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SERVER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localhost:7272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BROWSER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Firefox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DELAY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0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VALID USER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demo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VALID PASSWORD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mode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LOGIN URL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http://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SERVER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/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WELCOME URL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http://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SERVER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/welcome.html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ERROR URL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http://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900" dirty="0">
                <a:solidFill>
                  <a:srgbClr val="40FFFF"/>
                </a:solidFill>
                <a:latin typeface="Courier"/>
              </a:rPr>
              <a:t>SERVER</a:t>
            </a:r>
            <a:r>
              <a:rPr lang="en-US" altLang="en-US" sz="900" dirty="0">
                <a:solidFill>
                  <a:srgbClr val="D0D0D0"/>
                </a:solidFill>
                <a:latin typeface="Courier"/>
              </a:rPr>
              <a:t>}</a:t>
            </a:r>
            <a:r>
              <a:rPr lang="en-US" altLang="en-US" sz="900" dirty="0">
                <a:solidFill>
                  <a:srgbClr val="ED9D13"/>
                </a:solidFill>
                <a:latin typeface="Courier"/>
              </a:rPr>
              <a:t>/error.html</a:t>
            </a:r>
            <a:r>
              <a:rPr lang="en-US" altLang="en-US" sz="900" dirty="0"/>
              <a:t> 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>
              <a:solidFill>
                <a:srgbClr val="D0D0D0"/>
              </a:solidFill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*** Test Cases ***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sng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Valid Login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Open Browser To Login Page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Input Username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D9D13"/>
                </a:solidFill>
                <a:effectLst/>
                <a:latin typeface="Courier"/>
              </a:rPr>
              <a:t>demo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Input Password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D9D13"/>
                </a:solidFill>
                <a:effectLst/>
                <a:latin typeface="Courier"/>
              </a:rPr>
              <a:t>mode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Submit Credentials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Welcome Page Should Be Open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   [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6AB825"/>
                </a:solidFill>
                <a:effectLst/>
                <a:latin typeface="Courier"/>
              </a:rPr>
              <a:t>Teardown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]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Close Browser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26A1A-5FCB-4518-A980-9EE3FB9B61BF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Robot Framework – example</a:t>
            </a:r>
          </a:p>
        </p:txBody>
      </p:sp>
    </p:spTree>
    <p:extLst>
      <p:ext uri="{BB962C8B-B14F-4D97-AF65-F5344CB8AC3E}">
        <p14:creationId xmlns:p14="http://schemas.microsoft.com/office/powerpoint/2010/main" val="266274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7EDDC90-79D4-41C5-BF78-A9FFFA90BD83}"/>
              </a:ext>
            </a:extLst>
          </p:cNvPr>
          <p:cNvSpPr txBox="1">
            <a:spLocks/>
          </p:cNvSpPr>
          <p:nvPr/>
        </p:nvSpPr>
        <p:spPr>
          <a:xfrm>
            <a:off x="4623282" y="748937"/>
            <a:ext cx="4109900" cy="385077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91440" rIns="91440" bIns="9144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26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930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23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82400" indent="-2286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12800" indent="-171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43200" indent="-171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52F03B0-C8FC-4375-A4D5-B115D4329ED3}"/>
              </a:ext>
            </a:extLst>
          </p:cNvPr>
          <p:cNvSpPr txBox="1">
            <a:spLocks/>
          </p:cNvSpPr>
          <p:nvPr/>
        </p:nvSpPr>
        <p:spPr>
          <a:xfrm>
            <a:off x="377277" y="748937"/>
            <a:ext cx="4109900" cy="385077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91440" rIns="91440" bIns="9144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26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930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23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82400" indent="-2286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12800" indent="-171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43200" indent="-171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DC182-5B27-41AD-BB77-8ECD9CEB4D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216" y="877697"/>
            <a:ext cx="4010400" cy="236736"/>
          </a:xfrm>
        </p:spPr>
        <p:txBody>
          <a:bodyPr>
            <a:normAutofit/>
          </a:bodyPr>
          <a:lstStyle/>
          <a:p>
            <a:pPr defTabSz="360000">
              <a:tabLst>
                <a:tab pos="360000" algn="l"/>
              </a:tabLst>
            </a:pPr>
            <a:r>
              <a:rPr lang="en-US" sz="1200" b="1" dirty="0">
                <a:solidFill>
                  <a:srgbClr val="273142"/>
                </a:solidFill>
              </a:rPr>
              <a:t>Test data is structured in four tables/sections : </a:t>
            </a:r>
            <a:endParaRPr lang="en-US" sz="1200" b="1" dirty="0">
              <a:solidFill>
                <a:srgbClr val="27314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99D65D-3978-4106-BA7B-01BC8CEDB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277" y="891245"/>
            <a:ext cx="2515445" cy="19822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1F0FAB2-5A19-453C-916D-1C23F2473A76}"/>
              </a:ext>
            </a:extLst>
          </p:cNvPr>
          <p:cNvSpPr/>
          <p:nvPr/>
        </p:nvSpPr>
        <p:spPr>
          <a:xfrm>
            <a:off x="5231612" y="3417241"/>
            <a:ext cx="3230280" cy="438863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-518851"/>
              <a:satOff val="40909"/>
              <a:lumOff val="-14215"/>
              <a:alphaOff val="0"/>
            </a:schemeClr>
          </a:fillRef>
          <a:effectRef idx="3">
            <a:schemeClr val="accent2">
              <a:hueOff val="-518851"/>
              <a:satOff val="40909"/>
              <a:lumOff val="-142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12969" rIns="91440" bIns="12969" numCol="1" spcCol="1270" anchor="ctr" anchorCtr="0">
            <a:noAutofit/>
          </a:bodyPr>
          <a:lstStyle/>
          <a:p>
            <a:pPr algn="just"/>
            <a:r>
              <a:rPr lang="en-US" sz="11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rule: </a:t>
            </a:r>
            <a:r>
              <a:rPr lang="en-US" sz="1100" dirty="0">
                <a:solidFill>
                  <a:schemeClr val="bg1"/>
                </a:solidFill>
              </a:rPr>
              <a:t>the test data tables must have one or more </a:t>
            </a:r>
            <a:r>
              <a:rPr lang="en-US" sz="1100" b="1" dirty="0">
                <a:solidFill>
                  <a:schemeClr val="bg1"/>
                </a:solidFill>
              </a:rPr>
              <a:t>asterisk</a:t>
            </a:r>
            <a:r>
              <a:rPr lang="en-US" sz="1100" dirty="0">
                <a:solidFill>
                  <a:schemeClr val="bg1"/>
                </a:solidFill>
              </a:rPr>
              <a:t> before their names</a:t>
            </a:r>
            <a:endParaRPr lang="en-US" sz="11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6F54F9-4DC9-4740-B7B5-AEFDC4A843D1}"/>
              </a:ext>
            </a:extLst>
          </p:cNvPr>
          <p:cNvSpPr/>
          <p:nvPr/>
        </p:nvSpPr>
        <p:spPr>
          <a:xfrm>
            <a:off x="5365378" y="891245"/>
            <a:ext cx="315797" cy="128661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F2C76F-6F5A-4797-B35D-6B7E45751967}"/>
              </a:ext>
            </a:extLst>
          </p:cNvPr>
          <p:cNvSpPr/>
          <p:nvPr/>
        </p:nvSpPr>
        <p:spPr>
          <a:xfrm>
            <a:off x="5365378" y="1171530"/>
            <a:ext cx="315797" cy="128661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78CC30-006D-4AEC-A228-F73B1D964B6C}"/>
              </a:ext>
            </a:extLst>
          </p:cNvPr>
          <p:cNvSpPr/>
          <p:nvPr/>
        </p:nvSpPr>
        <p:spPr>
          <a:xfrm>
            <a:off x="5365378" y="1489542"/>
            <a:ext cx="315797" cy="128661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C1CFBF-557C-4F02-BDD0-FB29520FCC6C}"/>
              </a:ext>
            </a:extLst>
          </p:cNvPr>
          <p:cNvSpPr/>
          <p:nvPr/>
        </p:nvSpPr>
        <p:spPr>
          <a:xfrm>
            <a:off x="5365377" y="2398725"/>
            <a:ext cx="315797" cy="128661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EC91EB8-4EA6-46A2-AABA-8E19FD36EA2F}"/>
              </a:ext>
            </a:extLst>
          </p:cNvPr>
          <p:cNvCxnSpPr/>
          <p:nvPr/>
        </p:nvCxnSpPr>
        <p:spPr>
          <a:xfrm>
            <a:off x="5890742" y="1066986"/>
            <a:ext cx="280800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9B5C236-DB0B-45F8-B2D6-30ABAB73F8AC}"/>
              </a:ext>
            </a:extLst>
          </p:cNvPr>
          <p:cNvCxnSpPr>
            <a:cxnSpLocks/>
          </p:cNvCxnSpPr>
          <p:nvPr/>
        </p:nvCxnSpPr>
        <p:spPr>
          <a:xfrm>
            <a:off x="5999942" y="1351900"/>
            <a:ext cx="222000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3DB64AC-0EFC-4742-B917-8174997108C6}"/>
              </a:ext>
            </a:extLst>
          </p:cNvPr>
          <p:cNvCxnSpPr>
            <a:cxnSpLocks/>
          </p:cNvCxnSpPr>
          <p:nvPr/>
        </p:nvCxnSpPr>
        <p:spPr>
          <a:xfrm>
            <a:off x="6441457" y="1773786"/>
            <a:ext cx="198085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4EF3B27-907E-40BB-A33E-636D386F6BC9}"/>
              </a:ext>
            </a:extLst>
          </p:cNvPr>
          <p:cNvCxnSpPr>
            <a:cxnSpLocks/>
          </p:cNvCxnSpPr>
          <p:nvPr/>
        </p:nvCxnSpPr>
        <p:spPr>
          <a:xfrm>
            <a:off x="5867857" y="1889584"/>
            <a:ext cx="198085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BFE5DB-093B-4A88-979F-302B959E9A5A}"/>
              </a:ext>
            </a:extLst>
          </p:cNvPr>
          <p:cNvCxnSpPr>
            <a:cxnSpLocks/>
          </p:cNvCxnSpPr>
          <p:nvPr/>
        </p:nvCxnSpPr>
        <p:spPr>
          <a:xfrm>
            <a:off x="6214742" y="1976586"/>
            <a:ext cx="198085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56C9845-9D7A-4FB0-BF85-79C5A0E695B8}"/>
              </a:ext>
            </a:extLst>
          </p:cNvPr>
          <p:cNvCxnSpPr>
            <a:cxnSpLocks/>
          </p:cNvCxnSpPr>
          <p:nvPr/>
        </p:nvCxnSpPr>
        <p:spPr>
          <a:xfrm>
            <a:off x="6441457" y="2286186"/>
            <a:ext cx="198085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5543812-E53D-4BBC-86D7-F7F0A2126C89}"/>
              </a:ext>
            </a:extLst>
          </p:cNvPr>
          <p:cNvCxnSpPr>
            <a:cxnSpLocks/>
          </p:cNvCxnSpPr>
          <p:nvPr/>
        </p:nvCxnSpPr>
        <p:spPr>
          <a:xfrm>
            <a:off x="7146555" y="2286186"/>
            <a:ext cx="198085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B0B257B-FBB3-44D1-AB7A-179DD2AF1B85}"/>
              </a:ext>
            </a:extLst>
          </p:cNvPr>
          <p:cNvCxnSpPr>
            <a:cxnSpLocks/>
          </p:cNvCxnSpPr>
          <p:nvPr/>
        </p:nvCxnSpPr>
        <p:spPr>
          <a:xfrm>
            <a:off x="6259142" y="2703786"/>
            <a:ext cx="198085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F0ECD8E-5E0B-4999-AD9C-6643EE08238E}"/>
              </a:ext>
            </a:extLst>
          </p:cNvPr>
          <p:cNvCxnSpPr>
            <a:cxnSpLocks/>
          </p:cNvCxnSpPr>
          <p:nvPr/>
        </p:nvCxnSpPr>
        <p:spPr>
          <a:xfrm>
            <a:off x="6779942" y="2797386"/>
            <a:ext cx="198085" cy="0"/>
          </a:xfrm>
          <a:prstGeom prst="straightConnector1">
            <a:avLst/>
          </a:prstGeom>
          <a:ln>
            <a:solidFill>
              <a:srgbClr val="3AA6D6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5D42FB52-6D1D-4F9E-BF78-EDD42C5930BC}"/>
              </a:ext>
            </a:extLst>
          </p:cNvPr>
          <p:cNvSpPr/>
          <p:nvPr/>
        </p:nvSpPr>
        <p:spPr>
          <a:xfrm>
            <a:off x="5231612" y="4038431"/>
            <a:ext cx="3230280" cy="376639"/>
          </a:xfrm>
          <a:prstGeom prst="rect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-518851"/>
              <a:satOff val="40909"/>
              <a:lumOff val="-14215"/>
              <a:alphaOff val="0"/>
            </a:schemeClr>
          </a:fillRef>
          <a:effectRef idx="3">
            <a:schemeClr val="accent2">
              <a:hueOff val="-518851"/>
              <a:satOff val="40909"/>
              <a:lumOff val="-142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12969" rIns="91440" bIns="12969" numCol="1" spcCol="1270" anchor="ctr" anchorCtr="0">
            <a:noAutofit/>
          </a:bodyPr>
          <a:lstStyle/>
          <a:p>
            <a:r>
              <a:rPr lang="en-US" sz="11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rule:</a:t>
            </a:r>
            <a:r>
              <a:rPr lang="en-US" sz="1100" dirty="0">
                <a:solidFill>
                  <a:schemeClr val="bg1"/>
                </a:solidFill>
              </a:rPr>
              <a:t> two or more spaces between cells</a:t>
            </a:r>
            <a:endParaRPr lang="en-US" sz="11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E98EC89-9B6C-460B-99D3-912EFDB39B95}"/>
              </a:ext>
            </a:extLst>
          </p:cNvPr>
          <p:cNvSpPr/>
          <p:nvPr/>
        </p:nvSpPr>
        <p:spPr>
          <a:xfrm>
            <a:off x="420216" y="1232000"/>
            <a:ext cx="3824816" cy="327015"/>
          </a:xfrm>
          <a:custGeom>
            <a:avLst/>
            <a:gdLst>
              <a:gd name="connsiteX0" fmla="*/ 0 w 3824816"/>
              <a:gd name="connsiteY0" fmla="*/ 54504 h 327015"/>
              <a:gd name="connsiteX1" fmla="*/ 54504 w 3824816"/>
              <a:gd name="connsiteY1" fmla="*/ 0 h 327015"/>
              <a:gd name="connsiteX2" fmla="*/ 3770312 w 3824816"/>
              <a:gd name="connsiteY2" fmla="*/ 0 h 327015"/>
              <a:gd name="connsiteX3" fmla="*/ 3824816 w 3824816"/>
              <a:gd name="connsiteY3" fmla="*/ 54504 h 327015"/>
              <a:gd name="connsiteX4" fmla="*/ 3824816 w 3824816"/>
              <a:gd name="connsiteY4" fmla="*/ 272511 h 327015"/>
              <a:gd name="connsiteX5" fmla="*/ 3770312 w 3824816"/>
              <a:gd name="connsiteY5" fmla="*/ 327015 h 327015"/>
              <a:gd name="connsiteX6" fmla="*/ 54504 w 3824816"/>
              <a:gd name="connsiteY6" fmla="*/ 327015 h 327015"/>
              <a:gd name="connsiteX7" fmla="*/ 0 w 3824816"/>
              <a:gd name="connsiteY7" fmla="*/ 272511 h 327015"/>
              <a:gd name="connsiteX8" fmla="*/ 0 w 3824816"/>
              <a:gd name="connsiteY8" fmla="*/ 54504 h 32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4816" h="327015">
                <a:moveTo>
                  <a:pt x="0" y="54504"/>
                </a:moveTo>
                <a:cubicBezTo>
                  <a:pt x="0" y="24402"/>
                  <a:pt x="24402" y="0"/>
                  <a:pt x="54504" y="0"/>
                </a:cubicBezTo>
                <a:lnTo>
                  <a:pt x="3770312" y="0"/>
                </a:lnTo>
                <a:cubicBezTo>
                  <a:pt x="3800414" y="0"/>
                  <a:pt x="3824816" y="24402"/>
                  <a:pt x="3824816" y="54504"/>
                </a:cubicBezTo>
                <a:lnTo>
                  <a:pt x="3824816" y="272511"/>
                </a:lnTo>
                <a:cubicBezTo>
                  <a:pt x="3824816" y="302613"/>
                  <a:pt x="3800414" y="327015"/>
                  <a:pt x="3770312" y="327015"/>
                </a:cubicBezTo>
                <a:lnTo>
                  <a:pt x="54504" y="327015"/>
                </a:lnTo>
                <a:cubicBezTo>
                  <a:pt x="24402" y="327015"/>
                  <a:pt x="0" y="302613"/>
                  <a:pt x="0" y="272511"/>
                </a:cubicBezTo>
                <a:lnTo>
                  <a:pt x="0" y="54504"/>
                </a:lnTo>
                <a:close/>
              </a:path>
            </a:pathLst>
          </a:custGeom>
          <a:solidFill>
            <a:srgbClr val="00ACA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5494" tIns="65494" rIns="65494" bIns="65494" numCol="1" spcCol="1270" anchor="ctr" anchorCtr="0">
            <a:noAutofit/>
          </a:bodyPr>
          <a:lstStyle/>
          <a:p>
            <a:pPr marL="0" lvl="0" indent="0" algn="l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1" kern="1200" dirty="0">
                <a:solidFill>
                  <a:schemeClr val="bg1"/>
                </a:solidFill>
              </a:rPr>
              <a:t>Settings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D0C36B4-8D1B-4534-9191-847512E60DBC}"/>
              </a:ext>
            </a:extLst>
          </p:cNvPr>
          <p:cNvSpPr/>
          <p:nvPr/>
        </p:nvSpPr>
        <p:spPr>
          <a:xfrm>
            <a:off x="420216" y="1559015"/>
            <a:ext cx="3824816" cy="551655"/>
          </a:xfrm>
          <a:custGeom>
            <a:avLst/>
            <a:gdLst>
              <a:gd name="connsiteX0" fmla="*/ 0 w 3824816"/>
              <a:gd name="connsiteY0" fmla="*/ 0 h 551655"/>
              <a:gd name="connsiteX1" fmla="*/ 3824816 w 3824816"/>
              <a:gd name="connsiteY1" fmla="*/ 0 h 551655"/>
              <a:gd name="connsiteX2" fmla="*/ 3824816 w 3824816"/>
              <a:gd name="connsiteY2" fmla="*/ 551655 h 551655"/>
              <a:gd name="connsiteX3" fmla="*/ 0 w 3824816"/>
              <a:gd name="connsiteY3" fmla="*/ 551655 h 551655"/>
              <a:gd name="connsiteX4" fmla="*/ 0 w 3824816"/>
              <a:gd name="connsiteY4" fmla="*/ 0 h 5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816" h="551655">
                <a:moveTo>
                  <a:pt x="0" y="0"/>
                </a:moveTo>
                <a:lnTo>
                  <a:pt x="3824816" y="0"/>
                </a:lnTo>
                <a:lnTo>
                  <a:pt x="3824816" y="551655"/>
                </a:lnTo>
                <a:lnTo>
                  <a:pt x="0" y="5516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1438" tIns="91440" rIns="0" bIns="16510" numCol="1" spcCol="1270" anchor="t" anchorCtr="0">
            <a:noAutofit/>
          </a:bodyPr>
          <a:lstStyle/>
          <a:p>
            <a:pPr marL="91440" lvl="1" indent="-91440" algn="l" defTabSz="444500">
              <a:lnSpc>
                <a:spcPct val="90000"/>
              </a:lnSpc>
              <a:spcBef>
                <a:spcPts val="400"/>
              </a:spcBef>
              <a:spcAft>
                <a:spcPct val="20000"/>
              </a:spcAft>
              <a:buFont typeface="Wingdings" panose="05000000000000000000" pitchFamily="2" charset="2"/>
              <a:buChar char="q"/>
            </a:pPr>
            <a:r>
              <a:rPr lang="en-US" sz="1000" kern="1200" dirty="0">
                <a:solidFill>
                  <a:schemeClr val="bg2">
                    <a:lumMod val="50000"/>
                  </a:schemeClr>
                </a:solidFill>
              </a:rPr>
              <a:t> Importing test libraries, resource files and variable file</a:t>
            </a:r>
          </a:p>
          <a:p>
            <a:pPr marL="91440" lvl="1" indent="-91440" algn="l" defTabSz="444500">
              <a:lnSpc>
                <a:spcPct val="90000"/>
              </a:lnSpc>
              <a:spcBef>
                <a:spcPts val="400"/>
              </a:spcBef>
              <a:spcAft>
                <a:spcPct val="20000"/>
              </a:spcAft>
              <a:buFont typeface="Wingdings" panose="05000000000000000000" pitchFamily="2" charset="2"/>
              <a:buChar char="q"/>
            </a:pPr>
            <a:r>
              <a:rPr lang="en-US" sz="1000" kern="1200" dirty="0">
                <a:solidFill>
                  <a:schemeClr val="bg2">
                    <a:lumMod val="50000"/>
                  </a:schemeClr>
                </a:solidFill>
              </a:rPr>
              <a:t> Defining metadata for test suites and test cases</a:t>
            </a:r>
          </a:p>
          <a:p>
            <a:pPr marL="91440" lvl="1" indent="-91440" algn="l" defTabSz="444500">
              <a:lnSpc>
                <a:spcPct val="90000"/>
              </a:lnSpc>
              <a:spcBef>
                <a:spcPts val="400"/>
              </a:spcBef>
              <a:spcAft>
                <a:spcPct val="20000"/>
              </a:spcAft>
              <a:buChar char="•"/>
            </a:pPr>
            <a:endParaRPr lang="en-US" sz="1000" kern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E07B674-CD73-4E33-B5C4-E88B24FE42F8}"/>
              </a:ext>
            </a:extLst>
          </p:cNvPr>
          <p:cNvSpPr/>
          <p:nvPr/>
        </p:nvSpPr>
        <p:spPr>
          <a:xfrm>
            <a:off x="420216" y="2110670"/>
            <a:ext cx="3824816" cy="327015"/>
          </a:xfrm>
          <a:custGeom>
            <a:avLst/>
            <a:gdLst>
              <a:gd name="connsiteX0" fmla="*/ 0 w 3824816"/>
              <a:gd name="connsiteY0" fmla="*/ 54504 h 327015"/>
              <a:gd name="connsiteX1" fmla="*/ 54504 w 3824816"/>
              <a:gd name="connsiteY1" fmla="*/ 0 h 327015"/>
              <a:gd name="connsiteX2" fmla="*/ 3770312 w 3824816"/>
              <a:gd name="connsiteY2" fmla="*/ 0 h 327015"/>
              <a:gd name="connsiteX3" fmla="*/ 3824816 w 3824816"/>
              <a:gd name="connsiteY3" fmla="*/ 54504 h 327015"/>
              <a:gd name="connsiteX4" fmla="*/ 3824816 w 3824816"/>
              <a:gd name="connsiteY4" fmla="*/ 272511 h 327015"/>
              <a:gd name="connsiteX5" fmla="*/ 3770312 w 3824816"/>
              <a:gd name="connsiteY5" fmla="*/ 327015 h 327015"/>
              <a:gd name="connsiteX6" fmla="*/ 54504 w 3824816"/>
              <a:gd name="connsiteY6" fmla="*/ 327015 h 327015"/>
              <a:gd name="connsiteX7" fmla="*/ 0 w 3824816"/>
              <a:gd name="connsiteY7" fmla="*/ 272511 h 327015"/>
              <a:gd name="connsiteX8" fmla="*/ 0 w 3824816"/>
              <a:gd name="connsiteY8" fmla="*/ 54504 h 32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4816" h="327015">
                <a:moveTo>
                  <a:pt x="0" y="54504"/>
                </a:moveTo>
                <a:cubicBezTo>
                  <a:pt x="0" y="24402"/>
                  <a:pt x="24402" y="0"/>
                  <a:pt x="54504" y="0"/>
                </a:cubicBezTo>
                <a:lnTo>
                  <a:pt x="3770312" y="0"/>
                </a:lnTo>
                <a:cubicBezTo>
                  <a:pt x="3800414" y="0"/>
                  <a:pt x="3824816" y="24402"/>
                  <a:pt x="3824816" y="54504"/>
                </a:cubicBezTo>
                <a:lnTo>
                  <a:pt x="3824816" y="272511"/>
                </a:lnTo>
                <a:cubicBezTo>
                  <a:pt x="3824816" y="302613"/>
                  <a:pt x="3800414" y="327015"/>
                  <a:pt x="3770312" y="327015"/>
                </a:cubicBezTo>
                <a:lnTo>
                  <a:pt x="54504" y="327015"/>
                </a:lnTo>
                <a:cubicBezTo>
                  <a:pt x="24402" y="327015"/>
                  <a:pt x="0" y="302613"/>
                  <a:pt x="0" y="272511"/>
                </a:cubicBezTo>
                <a:lnTo>
                  <a:pt x="0" y="54504"/>
                </a:lnTo>
                <a:close/>
              </a:path>
            </a:pathLst>
          </a:custGeom>
          <a:solidFill>
            <a:srgbClr val="00ACA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-13333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-13333"/>
            </a:schemeClr>
          </a:effectRef>
          <a:fontRef idx="minor">
            <a:schemeClr val="lt1"/>
          </a:fontRef>
        </p:style>
        <p:txBody>
          <a:bodyPr spcFirstLastPara="0" vert="horz" wrap="square" lIns="65494" tIns="65494" rIns="65494" bIns="65494" numCol="1" spcCol="1270" anchor="ctr" anchorCtr="0">
            <a:noAutofit/>
          </a:bodyPr>
          <a:lstStyle/>
          <a:p>
            <a:pPr marL="0" lvl="0" indent="0" algn="l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1" kern="1200" dirty="0">
                <a:solidFill>
                  <a:schemeClr val="bg1"/>
                </a:solidFill>
              </a:rPr>
              <a:t>Variables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850562-AA40-4DC2-AF5C-11A43E614C58}"/>
              </a:ext>
            </a:extLst>
          </p:cNvPr>
          <p:cNvSpPr/>
          <p:nvPr/>
        </p:nvSpPr>
        <p:spPr>
          <a:xfrm>
            <a:off x="420216" y="2437685"/>
            <a:ext cx="3824816" cy="370012"/>
          </a:xfrm>
          <a:custGeom>
            <a:avLst/>
            <a:gdLst>
              <a:gd name="connsiteX0" fmla="*/ 0 w 3824816"/>
              <a:gd name="connsiteY0" fmla="*/ 0 h 370012"/>
              <a:gd name="connsiteX1" fmla="*/ 3824816 w 3824816"/>
              <a:gd name="connsiteY1" fmla="*/ 0 h 370012"/>
              <a:gd name="connsiteX2" fmla="*/ 3824816 w 3824816"/>
              <a:gd name="connsiteY2" fmla="*/ 370012 h 370012"/>
              <a:gd name="connsiteX3" fmla="*/ 0 w 3824816"/>
              <a:gd name="connsiteY3" fmla="*/ 370012 h 370012"/>
              <a:gd name="connsiteX4" fmla="*/ 0 w 3824816"/>
              <a:gd name="connsiteY4" fmla="*/ 0 h 37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816" h="370012">
                <a:moveTo>
                  <a:pt x="0" y="0"/>
                </a:moveTo>
                <a:lnTo>
                  <a:pt x="3824816" y="0"/>
                </a:lnTo>
                <a:lnTo>
                  <a:pt x="3824816" y="370012"/>
                </a:lnTo>
                <a:lnTo>
                  <a:pt x="0" y="370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1438" tIns="91440" rIns="0" bIns="16510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Char char="q"/>
            </a:pPr>
            <a:r>
              <a:rPr lang="en-US" sz="1000" kern="1200" dirty="0">
                <a:solidFill>
                  <a:schemeClr val="bg2">
                    <a:lumMod val="50000"/>
                  </a:schemeClr>
                </a:solidFill>
              </a:rPr>
              <a:t> Defining variables that can be used elsewhere in the test data</a:t>
            </a:r>
          </a:p>
          <a:p>
            <a:pPr marL="57150" lvl="1" indent="-57150" algn="l" defTabSz="4445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endParaRPr lang="en-US" sz="1000" kern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1CDC673-BE66-4040-BD77-1DCFF06F8944}"/>
              </a:ext>
            </a:extLst>
          </p:cNvPr>
          <p:cNvSpPr/>
          <p:nvPr/>
        </p:nvSpPr>
        <p:spPr>
          <a:xfrm>
            <a:off x="420216" y="2807698"/>
            <a:ext cx="3824816" cy="327015"/>
          </a:xfrm>
          <a:custGeom>
            <a:avLst/>
            <a:gdLst>
              <a:gd name="connsiteX0" fmla="*/ 0 w 3824816"/>
              <a:gd name="connsiteY0" fmla="*/ 54504 h 327015"/>
              <a:gd name="connsiteX1" fmla="*/ 54504 w 3824816"/>
              <a:gd name="connsiteY1" fmla="*/ 0 h 327015"/>
              <a:gd name="connsiteX2" fmla="*/ 3770312 w 3824816"/>
              <a:gd name="connsiteY2" fmla="*/ 0 h 327015"/>
              <a:gd name="connsiteX3" fmla="*/ 3824816 w 3824816"/>
              <a:gd name="connsiteY3" fmla="*/ 54504 h 327015"/>
              <a:gd name="connsiteX4" fmla="*/ 3824816 w 3824816"/>
              <a:gd name="connsiteY4" fmla="*/ 272511 h 327015"/>
              <a:gd name="connsiteX5" fmla="*/ 3770312 w 3824816"/>
              <a:gd name="connsiteY5" fmla="*/ 327015 h 327015"/>
              <a:gd name="connsiteX6" fmla="*/ 54504 w 3824816"/>
              <a:gd name="connsiteY6" fmla="*/ 327015 h 327015"/>
              <a:gd name="connsiteX7" fmla="*/ 0 w 3824816"/>
              <a:gd name="connsiteY7" fmla="*/ 272511 h 327015"/>
              <a:gd name="connsiteX8" fmla="*/ 0 w 3824816"/>
              <a:gd name="connsiteY8" fmla="*/ 54504 h 32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4816" h="327015">
                <a:moveTo>
                  <a:pt x="0" y="54504"/>
                </a:moveTo>
                <a:cubicBezTo>
                  <a:pt x="0" y="24402"/>
                  <a:pt x="24402" y="0"/>
                  <a:pt x="54504" y="0"/>
                </a:cubicBezTo>
                <a:lnTo>
                  <a:pt x="3770312" y="0"/>
                </a:lnTo>
                <a:cubicBezTo>
                  <a:pt x="3800414" y="0"/>
                  <a:pt x="3824816" y="24402"/>
                  <a:pt x="3824816" y="54504"/>
                </a:cubicBezTo>
                <a:lnTo>
                  <a:pt x="3824816" y="272511"/>
                </a:lnTo>
                <a:cubicBezTo>
                  <a:pt x="3824816" y="302613"/>
                  <a:pt x="3800414" y="327015"/>
                  <a:pt x="3770312" y="327015"/>
                </a:cubicBezTo>
                <a:lnTo>
                  <a:pt x="54504" y="327015"/>
                </a:lnTo>
                <a:cubicBezTo>
                  <a:pt x="24402" y="327015"/>
                  <a:pt x="0" y="302613"/>
                  <a:pt x="0" y="272511"/>
                </a:cubicBezTo>
                <a:lnTo>
                  <a:pt x="0" y="54504"/>
                </a:lnTo>
                <a:close/>
              </a:path>
            </a:pathLst>
          </a:custGeom>
          <a:solidFill>
            <a:srgbClr val="00ACA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-26667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-26667"/>
            </a:schemeClr>
          </a:effectRef>
          <a:fontRef idx="minor">
            <a:schemeClr val="lt1"/>
          </a:fontRef>
        </p:style>
        <p:txBody>
          <a:bodyPr spcFirstLastPara="0" vert="horz" wrap="square" lIns="65494" tIns="65494" rIns="65494" bIns="65494" numCol="1" spcCol="1270" anchor="ctr" anchorCtr="0">
            <a:noAutofit/>
          </a:bodyPr>
          <a:lstStyle/>
          <a:p>
            <a:pPr marL="0" lvl="0" indent="0" algn="l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1" kern="1200" dirty="0">
                <a:solidFill>
                  <a:schemeClr val="bg1"/>
                </a:solidFill>
              </a:rPr>
              <a:t>Test Cases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202576A-27E2-4476-A9BC-52A771BE7834}"/>
              </a:ext>
            </a:extLst>
          </p:cNvPr>
          <p:cNvSpPr/>
          <p:nvPr/>
        </p:nvSpPr>
        <p:spPr>
          <a:xfrm>
            <a:off x="420216" y="3134713"/>
            <a:ext cx="3824816" cy="370012"/>
          </a:xfrm>
          <a:custGeom>
            <a:avLst/>
            <a:gdLst>
              <a:gd name="connsiteX0" fmla="*/ 0 w 3824816"/>
              <a:gd name="connsiteY0" fmla="*/ 0 h 370012"/>
              <a:gd name="connsiteX1" fmla="*/ 3824816 w 3824816"/>
              <a:gd name="connsiteY1" fmla="*/ 0 h 370012"/>
              <a:gd name="connsiteX2" fmla="*/ 3824816 w 3824816"/>
              <a:gd name="connsiteY2" fmla="*/ 370012 h 370012"/>
              <a:gd name="connsiteX3" fmla="*/ 0 w 3824816"/>
              <a:gd name="connsiteY3" fmla="*/ 370012 h 370012"/>
              <a:gd name="connsiteX4" fmla="*/ 0 w 3824816"/>
              <a:gd name="connsiteY4" fmla="*/ 0 h 37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816" h="370012">
                <a:moveTo>
                  <a:pt x="0" y="0"/>
                </a:moveTo>
                <a:lnTo>
                  <a:pt x="3824816" y="0"/>
                </a:lnTo>
                <a:lnTo>
                  <a:pt x="3824816" y="370012"/>
                </a:lnTo>
                <a:lnTo>
                  <a:pt x="0" y="370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1438" tIns="91440" rIns="0" bIns="16510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Char char="q"/>
            </a:pPr>
            <a:r>
              <a:rPr lang="en-US" sz="1000" kern="1200" dirty="0">
                <a:solidFill>
                  <a:schemeClr val="bg2">
                    <a:lumMod val="50000"/>
                  </a:schemeClr>
                </a:solidFill>
              </a:rPr>
              <a:t> Creating test cases from available keywords</a:t>
            </a:r>
          </a:p>
          <a:p>
            <a:pPr marL="57150" lvl="1" indent="-57150" algn="l" defTabSz="4445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endParaRPr lang="en-US" sz="1000" kern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A12CE90-E1CB-465F-AFCF-F585C13C344F}"/>
              </a:ext>
            </a:extLst>
          </p:cNvPr>
          <p:cNvSpPr/>
          <p:nvPr/>
        </p:nvSpPr>
        <p:spPr>
          <a:xfrm>
            <a:off x="420216" y="3504725"/>
            <a:ext cx="3824816" cy="327015"/>
          </a:xfrm>
          <a:custGeom>
            <a:avLst/>
            <a:gdLst>
              <a:gd name="connsiteX0" fmla="*/ 0 w 3824816"/>
              <a:gd name="connsiteY0" fmla="*/ 54504 h 327015"/>
              <a:gd name="connsiteX1" fmla="*/ 54504 w 3824816"/>
              <a:gd name="connsiteY1" fmla="*/ 0 h 327015"/>
              <a:gd name="connsiteX2" fmla="*/ 3770312 w 3824816"/>
              <a:gd name="connsiteY2" fmla="*/ 0 h 327015"/>
              <a:gd name="connsiteX3" fmla="*/ 3824816 w 3824816"/>
              <a:gd name="connsiteY3" fmla="*/ 54504 h 327015"/>
              <a:gd name="connsiteX4" fmla="*/ 3824816 w 3824816"/>
              <a:gd name="connsiteY4" fmla="*/ 272511 h 327015"/>
              <a:gd name="connsiteX5" fmla="*/ 3770312 w 3824816"/>
              <a:gd name="connsiteY5" fmla="*/ 327015 h 327015"/>
              <a:gd name="connsiteX6" fmla="*/ 54504 w 3824816"/>
              <a:gd name="connsiteY6" fmla="*/ 327015 h 327015"/>
              <a:gd name="connsiteX7" fmla="*/ 0 w 3824816"/>
              <a:gd name="connsiteY7" fmla="*/ 272511 h 327015"/>
              <a:gd name="connsiteX8" fmla="*/ 0 w 3824816"/>
              <a:gd name="connsiteY8" fmla="*/ 54504 h 32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4816" h="327015">
                <a:moveTo>
                  <a:pt x="0" y="54504"/>
                </a:moveTo>
                <a:cubicBezTo>
                  <a:pt x="0" y="24402"/>
                  <a:pt x="24402" y="0"/>
                  <a:pt x="54504" y="0"/>
                </a:cubicBezTo>
                <a:lnTo>
                  <a:pt x="3770312" y="0"/>
                </a:lnTo>
                <a:cubicBezTo>
                  <a:pt x="3800414" y="0"/>
                  <a:pt x="3824816" y="24402"/>
                  <a:pt x="3824816" y="54504"/>
                </a:cubicBezTo>
                <a:lnTo>
                  <a:pt x="3824816" y="272511"/>
                </a:lnTo>
                <a:cubicBezTo>
                  <a:pt x="3824816" y="302613"/>
                  <a:pt x="3800414" y="327015"/>
                  <a:pt x="3770312" y="327015"/>
                </a:cubicBezTo>
                <a:lnTo>
                  <a:pt x="54504" y="327015"/>
                </a:lnTo>
                <a:cubicBezTo>
                  <a:pt x="24402" y="327015"/>
                  <a:pt x="0" y="302613"/>
                  <a:pt x="0" y="272511"/>
                </a:cubicBezTo>
                <a:lnTo>
                  <a:pt x="0" y="54504"/>
                </a:lnTo>
                <a:close/>
              </a:path>
            </a:pathLst>
          </a:custGeom>
          <a:solidFill>
            <a:srgbClr val="00ACA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-4000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65494" tIns="65494" rIns="65494" bIns="65494" numCol="1" spcCol="1270" anchor="ctr" anchorCtr="0">
            <a:noAutofit/>
          </a:bodyPr>
          <a:lstStyle/>
          <a:p>
            <a:pPr marL="0" lvl="0" indent="0" algn="l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1" kern="1200" dirty="0">
                <a:solidFill>
                  <a:schemeClr val="bg1"/>
                </a:solidFill>
              </a:rPr>
              <a:t>Keywords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02BE45F-9FC4-4109-9E6F-054D0D7FF876}"/>
              </a:ext>
            </a:extLst>
          </p:cNvPr>
          <p:cNvSpPr/>
          <p:nvPr/>
        </p:nvSpPr>
        <p:spPr>
          <a:xfrm>
            <a:off x="420216" y="3831740"/>
            <a:ext cx="3824816" cy="370012"/>
          </a:xfrm>
          <a:custGeom>
            <a:avLst/>
            <a:gdLst>
              <a:gd name="connsiteX0" fmla="*/ 0 w 3824816"/>
              <a:gd name="connsiteY0" fmla="*/ 0 h 370012"/>
              <a:gd name="connsiteX1" fmla="*/ 3824816 w 3824816"/>
              <a:gd name="connsiteY1" fmla="*/ 0 h 370012"/>
              <a:gd name="connsiteX2" fmla="*/ 3824816 w 3824816"/>
              <a:gd name="connsiteY2" fmla="*/ 370012 h 370012"/>
              <a:gd name="connsiteX3" fmla="*/ 0 w 3824816"/>
              <a:gd name="connsiteY3" fmla="*/ 370012 h 370012"/>
              <a:gd name="connsiteX4" fmla="*/ 0 w 3824816"/>
              <a:gd name="connsiteY4" fmla="*/ 0 h 37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816" h="370012">
                <a:moveTo>
                  <a:pt x="0" y="0"/>
                </a:moveTo>
                <a:lnTo>
                  <a:pt x="3824816" y="0"/>
                </a:lnTo>
                <a:lnTo>
                  <a:pt x="3824816" y="370012"/>
                </a:lnTo>
                <a:lnTo>
                  <a:pt x="0" y="370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1438" tIns="91440" rIns="0" bIns="16510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Char char="q"/>
            </a:pPr>
            <a:r>
              <a:rPr lang="en-US" sz="1000" b="0" i="0" u="none" kern="1200" dirty="0">
                <a:solidFill>
                  <a:schemeClr val="bg2">
                    <a:lumMod val="50000"/>
                  </a:schemeClr>
                </a:solidFill>
              </a:rPr>
              <a:t> Creating user keywords from existing lower-level keywords</a:t>
            </a:r>
          </a:p>
          <a:p>
            <a:pPr marL="57150" lvl="1" indent="-57150" algn="l" defTabSz="4445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endParaRPr lang="en-US" sz="1000" b="0" i="0" u="none" kern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6E3CCECC-2367-45CD-ABE9-6CC5272D7550}"/>
              </a:ext>
            </a:extLst>
          </p:cNvPr>
          <p:cNvSpPr txBox="1">
            <a:spLocks/>
          </p:cNvSpPr>
          <p:nvPr/>
        </p:nvSpPr>
        <p:spPr>
          <a:xfrm>
            <a:off x="4972827" y="3106186"/>
            <a:ext cx="4010400" cy="2367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26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930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23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82400" indent="-2286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12800" indent="-171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43200" indent="-171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60000">
              <a:tabLst>
                <a:tab pos="360000" algn="l"/>
              </a:tabLst>
            </a:pPr>
            <a:r>
              <a:rPr lang="en-US" sz="1200" b="1" dirty="0">
                <a:solidFill>
                  <a:srgbClr val="273142"/>
                </a:solidFill>
              </a:rPr>
              <a:t>Rules:</a:t>
            </a:r>
            <a:endParaRPr lang="en-US" sz="1200" b="1" dirty="0">
              <a:solidFill>
                <a:srgbClr val="27314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3594BE-251A-40A4-A332-59E6A4B55F2F}"/>
              </a:ext>
            </a:extLst>
          </p:cNvPr>
          <p:cNvSpPr/>
          <p:nvPr/>
        </p:nvSpPr>
        <p:spPr>
          <a:xfrm>
            <a:off x="5216613" y="857491"/>
            <a:ext cx="3034411" cy="28110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AA0ECD-E912-497E-B5E9-8DEECAD2EB85}"/>
              </a:ext>
            </a:extLst>
          </p:cNvPr>
          <p:cNvSpPr/>
          <p:nvPr/>
        </p:nvSpPr>
        <p:spPr>
          <a:xfrm>
            <a:off x="5216613" y="1162622"/>
            <a:ext cx="3034411" cy="28110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BE05F5-D6A1-4A3E-9235-8D87F31AE186}"/>
              </a:ext>
            </a:extLst>
          </p:cNvPr>
          <p:cNvSpPr/>
          <p:nvPr/>
        </p:nvSpPr>
        <p:spPr>
          <a:xfrm>
            <a:off x="5216613" y="1474003"/>
            <a:ext cx="3034411" cy="87769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02713-AAA0-4EF4-8429-EA4350C3AA83}"/>
              </a:ext>
            </a:extLst>
          </p:cNvPr>
          <p:cNvSpPr/>
          <p:nvPr/>
        </p:nvSpPr>
        <p:spPr>
          <a:xfrm>
            <a:off x="5216612" y="2374159"/>
            <a:ext cx="3034411" cy="52183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A26D7E-983A-436C-A3A3-2EE6C00751DF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Robot Framework – test data syntax</a:t>
            </a:r>
          </a:p>
        </p:txBody>
      </p:sp>
    </p:spTree>
    <p:extLst>
      <p:ext uri="{BB962C8B-B14F-4D97-AF65-F5344CB8AC3E}">
        <p14:creationId xmlns:p14="http://schemas.microsoft.com/office/powerpoint/2010/main" val="73208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3" grpId="0" animBg="1"/>
      <p:bldP spid="15" grpId="0" animBg="1"/>
      <p:bldP spid="23" grpId="0" animBg="1"/>
      <p:bldP spid="24" grpId="0" animBg="1"/>
      <p:bldP spid="25" grpId="0" animBg="1"/>
      <p:bldP spid="74" grpId="0" animBg="1"/>
      <p:bldP spid="6" grpId="0" animBg="1"/>
      <p:bldP spid="7" grpId="0"/>
      <p:bldP spid="9" grpId="0" animBg="1"/>
      <p:bldP spid="10" grpId="0"/>
      <p:bldP spid="12" grpId="0" animBg="1"/>
      <p:bldP spid="14" grpId="0"/>
      <p:bldP spid="16" grpId="0" animBg="1"/>
      <p:bldP spid="17" grpId="0"/>
      <p:bldP spid="33" grpId="0" build="p"/>
      <p:bldP spid="18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34143C-BCEC-4744-B35D-13B47392BC13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Robot Framework – creating tests (1/3)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59F0F-4EEE-4EE8-B278-1C8C6A68D887}"/>
              </a:ext>
            </a:extLst>
          </p:cNvPr>
          <p:cNvSpPr txBox="1"/>
          <p:nvPr/>
        </p:nvSpPr>
        <p:spPr>
          <a:xfrm>
            <a:off x="341416" y="1078354"/>
            <a:ext cx="4590802" cy="967921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Build test </a:t>
            </a:r>
            <a:r>
              <a:rPr lang="en-US" sz="1200" b="1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scenario</a:t>
            </a: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: </a:t>
            </a:r>
          </a:p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     what functionality you need to test?</a:t>
            </a:r>
          </a:p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     which are the actions you need to perform?</a:t>
            </a:r>
          </a:p>
          <a:p>
            <a:pPr marL="171450" indent="-171450" algn="l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     what do you want to verify?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0DD73-2FA3-4C46-A513-76F10B5997F2}"/>
              </a:ext>
            </a:extLst>
          </p:cNvPr>
          <p:cNvSpPr txBox="1"/>
          <p:nvPr/>
        </p:nvSpPr>
        <p:spPr>
          <a:xfrm>
            <a:off x="341416" y="2180373"/>
            <a:ext cx="4590802" cy="370114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Import the needed </a:t>
            </a:r>
            <a:r>
              <a:rPr lang="en-US" sz="1200" b="1" dirty="0">
                <a:solidFill>
                  <a:schemeClr val="bg1"/>
                </a:solidFill>
              </a:rPr>
              <a:t>libraries</a:t>
            </a:r>
            <a:r>
              <a:rPr lang="en-US" sz="1200" dirty="0">
                <a:solidFill>
                  <a:schemeClr val="bg1"/>
                </a:solidFill>
              </a:rPr>
              <a:t> (there you have your </a:t>
            </a:r>
            <a:r>
              <a:rPr lang="en-US" sz="1200" b="1" dirty="0">
                <a:solidFill>
                  <a:schemeClr val="bg1"/>
                </a:solidFill>
              </a:rPr>
              <a:t>keywords</a:t>
            </a:r>
            <a:r>
              <a:rPr lang="en-US" sz="1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F7D9B-950B-4F9B-BC73-BD9985F936D3}"/>
              </a:ext>
            </a:extLst>
          </p:cNvPr>
          <p:cNvSpPr txBox="1"/>
          <p:nvPr/>
        </p:nvSpPr>
        <p:spPr>
          <a:xfrm>
            <a:off x="341416" y="2795282"/>
            <a:ext cx="4590802" cy="614909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Build your </a:t>
            </a:r>
            <a:r>
              <a:rPr lang="en-US" sz="1200" b="1" dirty="0">
                <a:solidFill>
                  <a:schemeClr val="bg1"/>
                </a:solidFill>
              </a:rPr>
              <a:t>testcase</a:t>
            </a:r>
            <a:r>
              <a:rPr lang="en-US" sz="1200" dirty="0">
                <a:solidFill>
                  <a:schemeClr val="bg1"/>
                </a:solidFill>
              </a:rPr>
              <a:t>, with the available keywords from the libraries.</a:t>
            </a:r>
          </a:p>
          <a:p>
            <a:pPr algn="l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   ! Remember the </a:t>
            </a:r>
            <a:r>
              <a:rPr lang="en-US" sz="1200" b="1" dirty="0">
                <a:solidFill>
                  <a:schemeClr val="bg1"/>
                </a:solidFill>
              </a:rPr>
              <a:t>syntax</a:t>
            </a:r>
            <a:r>
              <a:rPr lang="en-US" sz="1200" dirty="0">
                <a:solidFill>
                  <a:schemeClr val="bg1"/>
                </a:solidFill>
              </a:rPr>
              <a:t> rules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F403A2-591D-47EB-BA42-FC8283673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825" y="1893585"/>
            <a:ext cx="3643745" cy="2394066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*** Settings ***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endParaRPr lang="en-US" altLang="en-US" sz="800" dirty="0">
              <a:solidFill>
                <a:srgbClr val="D0D0D0"/>
              </a:solidFill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6AB825"/>
                </a:solidFill>
                <a:effectLst/>
                <a:latin typeface="Courier"/>
              </a:rPr>
              <a:t>Library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r>
              <a:rPr kumimoji="0" lang="en-US" altLang="en-US" sz="800" b="0" i="0" u="sng" strike="noStrike" cap="none" normalizeH="0" baseline="0" dirty="0" err="1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SeleniumLibrary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D0D0D0"/>
              </a:solidFill>
              <a:effectLst/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rgbClr val="D0D0D0"/>
              </a:solidFill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*** Test Cases ***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u="sng" dirty="0">
                <a:solidFill>
                  <a:srgbClr val="FFFFFF"/>
                </a:solidFill>
                <a:latin typeface="Courier"/>
              </a:rPr>
              <a:t>Valid Login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D0D0D0"/>
              </a:solidFill>
              <a:effectLst/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Open Browser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http://localhost:7272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 Chrome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Maximize Browser Window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Login Page Should Be Open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username_field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demo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password_field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mode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Click Button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login_button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Location Should Be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http://localhost:7272/welcome.html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Title Should Be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Welcome Page</a:t>
            </a:r>
            <a:r>
              <a:rPr lang="en-US" altLang="en-US" sz="800" dirty="0"/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238627-7B91-4F38-B730-C5F0DD7556DD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 flipV="1">
            <a:off x="4932218" y="2361404"/>
            <a:ext cx="278410" cy="4026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53AEEF-36E9-42C9-AEBE-F0E15ECAFE6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932218" y="3102736"/>
            <a:ext cx="278410" cy="1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A07E614-C2AB-4091-84D4-FF9085342307}"/>
              </a:ext>
            </a:extLst>
          </p:cNvPr>
          <p:cNvSpPr/>
          <p:nvPr/>
        </p:nvSpPr>
        <p:spPr>
          <a:xfrm>
            <a:off x="5210628" y="2190861"/>
            <a:ext cx="3841667" cy="341085"/>
          </a:xfrm>
          <a:prstGeom prst="rect">
            <a:avLst/>
          </a:prstGeom>
          <a:noFill/>
          <a:ln w="34925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B98AE4-468A-413D-B11A-A68F6DE17D05}"/>
              </a:ext>
            </a:extLst>
          </p:cNvPr>
          <p:cNvSpPr/>
          <p:nvPr/>
        </p:nvSpPr>
        <p:spPr>
          <a:xfrm>
            <a:off x="5210628" y="2628242"/>
            <a:ext cx="3841667" cy="1276101"/>
          </a:xfrm>
          <a:prstGeom prst="rect">
            <a:avLst/>
          </a:prstGeom>
          <a:noFill/>
          <a:ln w="34925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3915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0" grpId="0" animBg="1"/>
      <p:bldP spid="25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34143C-BCEC-4744-B35D-13B47392BC13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Robot Framework – creating tests (2/3) – introducing variables &amp; high level keywords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BEE339-DE56-456E-A64A-C146589BF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314" y="584039"/>
            <a:ext cx="4042229" cy="418783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dirty="0">
                <a:solidFill>
                  <a:srgbClr val="FFFFFF"/>
                </a:solidFill>
                <a:latin typeface="Courier"/>
              </a:rPr>
              <a:t>*** Variables ***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SERVER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localhost:7272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BROWSER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Chrome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VALID USER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demo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VALID PASSWORD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mode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LOGIN URL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http://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SERVER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/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WELCOME URL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http://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SERVER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/welcome.html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rgbClr val="D0D0D0"/>
              </a:solidFill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*** Test Cases ***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sng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Valid Login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Open Browser To Login Page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Input Username And Password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VALID USER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VALID PASSWORD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Submit Credentials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Welcome Page Should Be Open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Close Browser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b="1" dirty="0">
              <a:solidFill>
                <a:srgbClr val="FFFFFF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dirty="0">
                <a:solidFill>
                  <a:srgbClr val="FFFFFF"/>
                </a:solidFill>
                <a:latin typeface="Courier"/>
              </a:rPr>
              <a:t>*** Keywords ***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u="sng" dirty="0">
                <a:solidFill>
                  <a:srgbClr val="FFFFFF"/>
                </a:solidFill>
                <a:latin typeface="Courier"/>
              </a:rPr>
              <a:t>Open Browser To Login Page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Open Browser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LOGIN URL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BROWSER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Maximize Browser Window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Login Page Should Be Open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u="sng" dirty="0">
                <a:solidFill>
                  <a:srgbClr val="FFFFFF"/>
                </a:solidFill>
                <a:latin typeface="Courier"/>
              </a:rPr>
              <a:t>Input Username And Password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   [</a:t>
            </a:r>
            <a:r>
              <a:rPr lang="en-US" altLang="en-US" sz="800" b="1" dirty="0">
                <a:solidFill>
                  <a:srgbClr val="6AB825"/>
                </a:solidFill>
                <a:latin typeface="Courier"/>
              </a:rPr>
              <a:t>Arguments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]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username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password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username_field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username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password_field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password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u="sng" dirty="0">
                <a:solidFill>
                  <a:srgbClr val="FFFFFF"/>
                </a:solidFill>
                <a:latin typeface="Courier"/>
              </a:rPr>
              <a:t>Submit Credentials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Click Button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login_button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dirty="0">
              <a:solidFill>
                <a:srgbClr val="D0D0D0"/>
              </a:solidFill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u="sng" dirty="0">
                <a:solidFill>
                  <a:srgbClr val="FFFFFF"/>
                </a:solidFill>
                <a:latin typeface="Courier"/>
              </a:rPr>
              <a:t>Welcome Page Should Be Open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Location Should Be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WELCOME URL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Title Should Be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Welcome Page</a:t>
            </a:r>
            <a:r>
              <a:rPr lang="en-US" altLang="en-US" sz="800" dirty="0"/>
              <a:t> </a:t>
            </a:r>
            <a:endParaRPr lang="en-US" altLang="en-US" sz="800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63122-7449-43F9-8964-81C822A6B5FA}"/>
              </a:ext>
            </a:extLst>
          </p:cNvPr>
          <p:cNvSpPr txBox="1"/>
          <p:nvPr/>
        </p:nvSpPr>
        <p:spPr>
          <a:xfrm>
            <a:off x="2166442" y="828629"/>
            <a:ext cx="1385111" cy="370114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extract variables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B11B2-8A48-4590-9FB8-C4651656EBAF}"/>
              </a:ext>
            </a:extLst>
          </p:cNvPr>
          <p:cNvSpPr txBox="1"/>
          <p:nvPr/>
        </p:nvSpPr>
        <p:spPr>
          <a:xfrm>
            <a:off x="1294912" y="2583803"/>
            <a:ext cx="2256641" cy="370114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build higher level keywords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F53D66-88E0-4C68-BF87-B5630F9D8C0E}"/>
              </a:ext>
            </a:extLst>
          </p:cNvPr>
          <p:cNvSpPr txBox="1"/>
          <p:nvPr/>
        </p:nvSpPr>
        <p:spPr>
          <a:xfrm>
            <a:off x="235369" y="1706216"/>
            <a:ext cx="3316184" cy="370114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recreate the test using higher level keywords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02D7FC-B3ED-4DA9-A555-C2F32F8D61E0}"/>
              </a:ext>
            </a:extLst>
          </p:cNvPr>
          <p:cNvCxnSpPr>
            <a:cxnSpLocks/>
          </p:cNvCxnSpPr>
          <p:nvPr/>
        </p:nvCxnSpPr>
        <p:spPr>
          <a:xfrm>
            <a:off x="3551553" y="1013686"/>
            <a:ext cx="90433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02FA0D-547F-4C0D-B464-79B0E256D974}"/>
              </a:ext>
            </a:extLst>
          </p:cNvPr>
          <p:cNvCxnSpPr>
            <a:cxnSpLocks/>
          </p:cNvCxnSpPr>
          <p:nvPr/>
        </p:nvCxnSpPr>
        <p:spPr>
          <a:xfrm>
            <a:off x="3551553" y="1891273"/>
            <a:ext cx="90433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13000B-A8F9-4570-B763-066BA44AEA9A}"/>
              </a:ext>
            </a:extLst>
          </p:cNvPr>
          <p:cNvCxnSpPr>
            <a:cxnSpLocks/>
          </p:cNvCxnSpPr>
          <p:nvPr/>
        </p:nvCxnSpPr>
        <p:spPr>
          <a:xfrm>
            <a:off x="3551553" y="2759289"/>
            <a:ext cx="90433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86E3B8B-7BFF-4A2A-B66C-179E5A455346}"/>
              </a:ext>
            </a:extLst>
          </p:cNvPr>
          <p:cNvSpPr/>
          <p:nvPr/>
        </p:nvSpPr>
        <p:spPr>
          <a:xfrm>
            <a:off x="4455885" y="616860"/>
            <a:ext cx="4361544" cy="907139"/>
          </a:xfrm>
          <a:prstGeom prst="rect">
            <a:avLst/>
          </a:prstGeom>
          <a:noFill/>
          <a:ln w="34925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D24C10-24C8-4834-B6A7-244D95E521C2}"/>
              </a:ext>
            </a:extLst>
          </p:cNvPr>
          <p:cNvSpPr/>
          <p:nvPr/>
        </p:nvSpPr>
        <p:spPr>
          <a:xfrm>
            <a:off x="4455885" y="1601150"/>
            <a:ext cx="4361544" cy="907139"/>
          </a:xfrm>
          <a:prstGeom prst="rect">
            <a:avLst/>
          </a:prstGeom>
          <a:noFill/>
          <a:ln w="34925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C81017-FBE0-4938-A400-5F4FA99A16CA}"/>
              </a:ext>
            </a:extLst>
          </p:cNvPr>
          <p:cNvSpPr/>
          <p:nvPr/>
        </p:nvSpPr>
        <p:spPr>
          <a:xfrm>
            <a:off x="4455885" y="2585440"/>
            <a:ext cx="4361544" cy="2102674"/>
          </a:xfrm>
          <a:prstGeom prst="rect">
            <a:avLst/>
          </a:prstGeom>
          <a:noFill/>
          <a:ln w="34925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998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34143C-BCEC-4744-B35D-13B47392BC13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Robot Framework – creating tests (3/3) – benefits of high level keywords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BEE339-DE56-456E-A64A-C146589BF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301" y="1383800"/>
            <a:ext cx="4042229" cy="982517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rgbClr val="D0D0D0"/>
              </a:solidFill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*** Test Cases ***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sng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Valid Login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Open Browser To Login Page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Input Username And Password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VALID USER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 ${</a:t>
            </a:r>
            <a:r>
              <a:rPr lang="en-US" altLang="en-US" sz="800" dirty="0">
                <a:solidFill>
                  <a:srgbClr val="40FFFF"/>
                </a:solidFill>
                <a:latin typeface="Courier"/>
              </a:rPr>
              <a:t>VALID PASSWORD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}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Submit Credentials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    Welcome Page Should Be Open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447FCF"/>
                </a:solidFill>
                <a:effectLst/>
                <a:latin typeface="Courier"/>
              </a:rPr>
              <a:t>Close Browser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b="1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63122-7449-43F9-8964-81C822A6B5FA}"/>
              </a:ext>
            </a:extLst>
          </p:cNvPr>
          <p:cNvSpPr txBox="1"/>
          <p:nvPr/>
        </p:nvSpPr>
        <p:spPr>
          <a:xfrm>
            <a:off x="406470" y="898372"/>
            <a:ext cx="3643744" cy="485428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BEFORE</a:t>
            </a:r>
          </a:p>
          <a:p>
            <a:pPr algn="ctr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(using library keywords)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B11B2-8A48-4590-9FB8-C4651656EBAF}"/>
              </a:ext>
            </a:extLst>
          </p:cNvPr>
          <p:cNvSpPr txBox="1"/>
          <p:nvPr/>
        </p:nvSpPr>
        <p:spPr>
          <a:xfrm>
            <a:off x="4695301" y="898372"/>
            <a:ext cx="4042229" cy="485428"/>
          </a:xfrm>
          <a:prstGeom prst="rect">
            <a:avLst/>
          </a:prstGeom>
          <a:solidFill>
            <a:srgbClr val="00ACA8"/>
          </a:solidFill>
        </p:spPr>
        <p:txBody>
          <a:bodyPr wrap="none" lIns="72000" tIns="72000" rIns="72000" bIns="72000" rtlCol="0"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AFTER </a:t>
            </a:r>
          </a:p>
          <a:p>
            <a:pPr algn="ctr">
              <a:spcAft>
                <a:spcPts val="3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(using high level keywords)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4BC81E-C5C3-4910-8DA7-B32846B6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69" y="1383800"/>
            <a:ext cx="3643745" cy="131181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"/>
              </a:rPr>
              <a:t>*** Test Cases ***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Courier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u="sng" dirty="0">
                <a:solidFill>
                  <a:srgbClr val="FFFFFF"/>
                </a:solidFill>
                <a:latin typeface="Courier"/>
              </a:rPr>
              <a:t>Valid Login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D0D0D0"/>
              </a:solidFill>
              <a:effectLst/>
              <a:latin typeface="Courie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Open Browser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http://localhost:7272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 Chrome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Maximize Browser Window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Login Page Should Be Open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username_field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demo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Input Text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password_field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mode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Click Button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 err="1">
                <a:solidFill>
                  <a:srgbClr val="ED9D13"/>
                </a:solidFill>
                <a:latin typeface="Courier"/>
              </a:rPr>
              <a:t>login_button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Location Should Be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http://localhost:7272/welcome.html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47FCF"/>
                </a:solidFill>
                <a:latin typeface="Courier"/>
              </a:rPr>
              <a:t>    Title Should Be</a:t>
            </a:r>
            <a:r>
              <a:rPr lang="en-US" altLang="en-US" sz="800" dirty="0">
                <a:solidFill>
                  <a:srgbClr val="D0D0D0"/>
                </a:solidFill>
                <a:latin typeface="Courier"/>
              </a:rPr>
              <a:t> </a:t>
            </a:r>
            <a:r>
              <a:rPr lang="en-US" altLang="en-US" sz="800" dirty="0">
                <a:solidFill>
                  <a:srgbClr val="ED9D13"/>
                </a:solidFill>
                <a:latin typeface="Courier"/>
              </a:rPr>
              <a:t>Welcome Page</a:t>
            </a:r>
            <a:r>
              <a:rPr lang="en-US" altLang="en-US" sz="800" dirty="0"/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6FFD7-09FE-4BF5-8756-6859BE31EE5F}"/>
              </a:ext>
            </a:extLst>
          </p:cNvPr>
          <p:cNvSpPr txBox="1"/>
          <p:nvPr/>
        </p:nvSpPr>
        <p:spPr>
          <a:xfrm>
            <a:off x="5098942" y="2744824"/>
            <a:ext cx="3401878" cy="1641195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274320" indent="-274320" algn="l">
              <a:spcBef>
                <a:spcPts val="6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easy to read</a:t>
            </a:r>
          </a:p>
          <a:p>
            <a:pPr marL="274320" indent="-274320" algn="l">
              <a:spcBef>
                <a:spcPts val="6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easy to maintain</a:t>
            </a:r>
          </a:p>
          <a:p>
            <a:pPr marL="274320" indent="-274320" algn="l">
              <a:spcBef>
                <a:spcPts val="6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9999"/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reusability</a:t>
            </a:r>
          </a:p>
        </p:txBody>
      </p:sp>
    </p:spTree>
    <p:extLst>
      <p:ext uri="{BB962C8B-B14F-4D97-AF65-F5344CB8AC3E}">
        <p14:creationId xmlns:p14="http://schemas.microsoft.com/office/powerpoint/2010/main" val="376873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object, drawing&#10;&#10;Description automatically generated">
            <a:extLst>
              <a:ext uri="{FF2B5EF4-FFF2-40B4-BE49-F238E27FC236}">
                <a16:creationId xmlns:a16="http://schemas.microsoft.com/office/drawing/2014/main" id="{537A22F7-622A-4A50-9DC0-D2F25C33B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430" y="841829"/>
            <a:ext cx="4217569" cy="23730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7E2A36D-16A1-4760-ACD6-7723F5DB937A}"/>
              </a:ext>
            </a:extLst>
          </p:cNvPr>
          <p:cNvSpPr/>
          <p:nvPr/>
        </p:nvSpPr>
        <p:spPr>
          <a:xfrm>
            <a:off x="-1" y="841829"/>
            <a:ext cx="4926431" cy="23730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lvl="0" defTabSz="180000">
              <a:tabLst>
                <a:tab pos="180000" algn="l"/>
              </a:tabLst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    </a:t>
            </a:r>
          </a:p>
          <a:p>
            <a:pPr marL="285750" lvl="0" indent="-285750" defTabSz="18000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180000" algn="l"/>
              </a:tabLst>
            </a:pPr>
            <a:r>
              <a:rPr lang="ro-RO" sz="1400" b="1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Web </a:t>
            </a:r>
            <a:r>
              <a:rPr lang="ro-RO" sz="1400" b="1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testing</a:t>
            </a:r>
            <a:r>
              <a:rPr lang="ro-RO" sz="1400" b="1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library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for Robot Framework</a:t>
            </a:r>
          </a:p>
          <a:p>
            <a:pPr marL="285750" lvl="0" indent="-285750" defTabSz="18000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180000" algn="l"/>
              </a:tabLst>
            </a:pPr>
            <a:r>
              <a:rPr lang="ro-RO" sz="1400" b="1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Python</a:t>
            </a:r>
            <a:r>
              <a:rPr lang="ro-RO" sz="1400" b="1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ro-RO" sz="1400" b="1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implementation</a:t>
            </a:r>
            <a:r>
              <a:rPr lang="ro-RO" sz="1400" b="1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of Selenium </a:t>
            </a:r>
            <a:r>
              <a:rPr lang="ro-RO" sz="1400" b="1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Webdriver</a:t>
            </a:r>
            <a:r>
              <a:rPr lang="ro-RO" sz="1400" b="1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to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use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with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Robot Framework</a:t>
            </a:r>
            <a:endParaRPr lang="en-US" sz="1400" dirty="0">
              <a:solidFill>
                <a:schemeClr val="tx1">
                  <a:lumMod val="75000"/>
                </a:schemeClr>
              </a:solidFill>
              <a:latin typeface="Nokia Pure Text" panose="020B0504040602060303" pitchFamily="34" charset="0"/>
              <a:ea typeface="Nokia Pure Text" panose="020B0504040602060303" pitchFamily="34" charset="0"/>
              <a:cs typeface="Nokia Pure Text" panose="020B0504040602060303" pitchFamily="34" charset="0"/>
            </a:endParaRPr>
          </a:p>
          <a:p>
            <a:pPr marL="285750" lvl="0" indent="-285750" defTabSz="18000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180000" algn="l"/>
              </a:tabLst>
            </a:pP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Works in real web browser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instance</a:t>
            </a:r>
            <a:endParaRPr lang="en-US" sz="1400" dirty="0">
              <a:solidFill>
                <a:schemeClr val="tx1">
                  <a:lumMod val="75000"/>
                </a:schemeClr>
              </a:solidFill>
              <a:latin typeface="Nokia Pure Text" panose="020B0504040602060303" pitchFamily="34" charset="0"/>
              <a:ea typeface="Nokia Pure Text" panose="020B0504040602060303" pitchFamily="34" charset="0"/>
              <a:cs typeface="Nokia Pure Text" panose="020B0504040602060303" pitchFamily="34" charset="0"/>
            </a:endParaRPr>
          </a:p>
          <a:p>
            <a:pPr marL="285750" lvl="0" indent="-285750" defTabSz="18000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180000" algn="l"/>
              </a:tabLst>
            </a:pPr>
            <a:r>
              <a:rPr lang="ro-RO" sz="1400" b="1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Specialized</a:t>
            </a:r>
            <a:r>
              <a:rPr lang="ro-RO" sz="1400" b="1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ro-RO" sz="1400" b="1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keywords</a:t>
            </a:r>
            <a:r>
              <a:rPr lang="ro-RO" sz="1400" b="1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to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control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the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browser</a:t>
            </a:r>
          </a:p>
          <a:p>
            <a:pPr marL="285750" lvl="0" indent="-285750" defTabSz="18000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180000" algn="l"/>
              </a:tabLst>
            </a:pP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It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works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in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most</a:t>
            </a:r>
            <a:r>
              <a:rPr lang="ro-RO" sz="1400" dirty="0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 modern </a:t>
            </a:r>
            <a:r>
              <a:rPr lang="ro-RO" sz="1400" dirty="0" err="1">
                <a:solidFill>
                  <a:schemeClr val="tx1">
                    <a:lumMod val="75000"/>
                  </a:schemeClr>
                </a:solidFill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browsers</a:t>
            </a:r>
            <a:endParaRPr lang="en-US" sz="1400" dirty="0">
              <a:solidFill>
                <a:schemeClr val="tx1">
                  <a:lumMod val="75000"/>
                </a:schemeClr>
              </a:solidFill>
              <a:latin typeface="Nokia Pure Text" panose="020B0504040602060303" pitchFamily="34" charset="0"/>
              <a:ea typeface="Nokia Pure Text" panose="020B0504040602060303" pitchFamily="34" charset="0"/>
              <a:cs typeface="Nokia Pure Text" panose="020B05040406020603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9FCC32-8C9F-4997-BC98-53EF2DF0F868}"/>
              </a:ext>
            </a:extLst>
          </p:cNvPr>
          <p:cNvSpPr/>
          <p:nvPr/>
        </p:nvSpPr>
        <p:spPr>
          <a:xfrm>
            <a:off x="0" y="3632200"/>
            <a:ext cx="9144000" cy="979714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square">
            <a:noAutofit/>
          </a:bodyPr>
          <a:lstStyle/>
          <a:p>
            <a:pPr marL="283210"/>
            <a:endParaRPr lang="en-US" sz="1200" dirty="0">
              <a:solidFill>
                <a:schemeClr val="bg1"/>
              </a:solidFill>
            </a:endParaRPr>
          </a:p>
          <a:p>
            <a:pPr marL="283210"/>
            <a:r>
              <a:rPr lang="en-US" sz="1200" dirty="0">
                <a:solidFill>
                  <a:schemeClr val="bg1"/>
                </a:solidFill>
              </a:rPr>
              <a:t>Keywords documentation:         </a:t>
            </a:r>
            <a:r>
              <a:rPr lang="ro-RO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http://robotframework.org/SeleniumLibrary/SeleniumLibrary.html</a:t>
            </a:r>
            <a:endParaRPr lang="en-US" sz="1200" dirty="0">
              <a:solidFill>
                <a:schemeClr val="bg1"/>
              </a:solidFill>
            </a:endParaRPr>
          </a:p>
          <a:p>
            <a:pPr marL="283210"/>
            <a:r>
              <a:rPr lang="en-US" sz="1200" dirty="0">
                <a:solidFill>
                  <a:schemeClr val="bg1"/>
                </a:solidFill>
              </a:rPr>
              <a:t>Source code:                                </a:t>
            </a:r>
            <a:r>
              <a:rPr lang="en-US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https://github.com/robotframework/SeleniumLibrary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283210"/>
            <a:r>
              <a:rPr lang="en-US" sz="1200" dirty="0">
                <a:solidFill>
                  <a:schemeClr val="bg1"/>
                </a:solidFill>
              </a:rPr>
              <a:t>Issue tracker:                               </a:t>
            </a:r>
            <a:r>
              <a:rPr lang="en-US" sz="12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https://github.com/robotframework/SeleniumLibrary/issues</a:t>
            </a:r>
            <a:endParaRPr lang="ro-RO" sz="1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39AE0-5CDC-4FF0-8CE5-AC4D7F40A427}"/>
              </a:ext>
            </a:extLst>
          </p:cNvPr>
          <p:cNvSpPr txBox="1"/>
          <p:nvPr/>
        </p:nvSpPr>
        <p:spPr>
          <a:xfrm>
            <a:off x="0" y="1129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Selenium Library – overview</a:t>
            </a:r>
            <a:endParaRPr lang="en-US" sz="2000" dirty="0">
              <a:solidFill>
                <a:schemeClr val="tx2"/>
              </a:solidFill>
              <a:latin typeface="Nokia Pure Headline" panose="020B050404060206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24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9153CE-AEE5-46A6-810C-52007523A7B7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Useful links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7E48F-3DBA-4B9F-B784-4372BDF0B237}"/>
              </a:ext>
            </a:extLst>
          </p:cNvPr>
          <p:cNvSpPr txBox="1"/>
          <p:nvPr/>
        </p:nvSpPr>
        <p:spPr>
          <a:xfrm>
            <a:off x="210456" y="1110343"/>
            <a:ext cx="4811487" cy="3062513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marL="457200" indent="-457200">
              <a:spcAft>
                <a:spcPts val="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Robot Framework webpage</a:t>
            </a: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spcAft>
                <a:spcPts val="300"/>
              </a:spcAft>
              <a:buSzPct val="100000"/>
            </a:pP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 marL="457200" indent="-457200">
              <a:spcAft>
                <a:spcPts val="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75000"/>
                  </a:schemeClr>
                </a:solidFill>
                <a:hlinkClick r:id="rId3"/>
              </a:rPr>
              <a:t>Robot Framework on GitHub</a:t>
            </a: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spcAft>
                <a:spcPts val="300"/>
              </a:spcAft>
              <a:buSzPct val="100000"/>
            </a:pP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 marL="457200" indent="-457200" algn="l">
              <a:spcAft>
                <a:spcPts val="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Robot Framework User Guide</a:t>
            </a: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 marL="457200" indent="-457200" algn="l">
              <a:spcAft>
                <a:spcPts val="300"/>
              </a:spcAft>
              <a:buSzPct val="100000"/>
              <a:buFont typeface="Wingdings" panose="05000000000000000000" pitchFamily="2" charset="2"/>
              <a:buChar char="v"/>
            </a:pP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 marL="457200" indent="-457200" algn="l">
              <a:spcAft>
                <a:spcPts val="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75000"/>
                  </a:schemeClr>
                </a:solidFill>
                <a:hlinkClick r:id="rId4"/>
              </a:rPr>
              <a:t>Robot Framework Quick Start Guide</a:t>
            </a: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 marL="457200" indent="-457200" algn="l">
              <a:spcAft>
                <a:spcPts val="300"/>
              </a:spcAft>
              <a:buSzPct val="100000"/>
              <a:buFont typeface="Wingdings" panose="05000000000000000000" pitchFamily="2" charset="2"/>
              <a:buChar char="v"/>
            </a:pP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 marL="457200" indent="-457200" algn="l">
              <a:spcAft>
                <a:spcPts val="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75000"/>
                  </a:schemeClr>
                </a:solidFill>
                <a:hlinkClick r:id="rId5"/>
              </a:rPr>
              <a:t>Robot Framework – How to write good tests</a:t>
            </a:r>
            <a:endParaRPr lang="en-US" sz="1600" b="1" dirty="0">
              <a:solidFill>
                <a:schemeClr val="tx1">
                  <a:lumMod val="75000"/>
                </a:schemeClr>
              </a:solidFill>
            </a:endParaRPr>
          </a:p>
          <a:p>
            <a:pPr algn="l">
              <a:spcAft>
                <a:spcPts val="300"/>
              </a:spcAft>
              <a:buSzPct val="100000"/>
            </a:pPr>
            <a:endParaRPr lang="en-US" sz="1600" dirty="0">
              <a:solidFill>
                <a:schemeClr val="tx2"/>
              </a:solidFill>
            </a:endParaRPr>
          </a:p>
          <a:p>
            <a:pPr algn="l">
              <a:spcAft>
                <a:spcPts val="300"/>
              </a:spcAft>
              <a:buSzPct val="100000"/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777D418B-E1D8-4D1E-9871-8159AFFE1A53}"/>
              </a:ext>
            </a:extLst>
          </p:cNvPr>
          <p:cNvSpPr/>
          <p:nvPr/>
        </p:nvSpPr>
        <p:spPr>
          <a:xfrm>
            <a:off x="4963886" y="1226456"/>
            <a:ext cx="805542" cy="232229"/>
          </a:xfrm>
          <a:prstGeom prst="leftArrow">
            <a:avLst/>
          </a:prstGeom>
          <a:solidFill>
            <a:srgbClr val="0099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BD03EFDA-1733-423E-870C-53CA4C70F652}"/>
              </a:ext>
            </a:extLst>
          </p:cNvPr>
          <p:cNvSpPr/>
          <p:nvPr/>
        </p:nvSpPr>
        <p:spPr>
          <a:xfrm>
            <a:off x="4963886" y="1763485"/>
            <a:ext cx="805542" cy="232229"/>
          </a:xfrm>
          <a:prstGeom prst="leftArrow">
            <a:avLst/>
          </a:prstGeom>
          <a:solidFill>
            <a:srgbClr val="0099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982E5936-C90B-40D6-8562-5C552B013FC4}"/>
              </a:ext>
            </a:extLst>
          </p:cNvPr>
          <p:cNvSpPr/>
          <p:nvPr/>
        </p:nvSpPr>
        <p:spPr>
          <a:xfrm>
            <a:off x="4963886" y="2300514"/>
            <a:ext cx="805542" cy="232229"/>
          </a:xfrm>
          <a:prstGeom prst="leftArrow">
            <a:avLst/>
          </a:prstGeom>
          <a:solidFill>
            <a:srgbClr val="0099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6BDA1814-A23A-4B84-9A9F-9B746C69755D}"/>
              </a:ext>
            </a:extLst>
          </p:cNvPr>
          <p:cNvSpPr/>
          <p:nvPr/>
        </p:nvSpPr>
        <p:spPr>
          <a:xfrm>
            <a:off x="4963886" y="2837543"/>
            <a:ext cx="805542" cy="232229"/>
          </a:xfrm>
          <a:prstGeom prst="leftArrow">
            <a:avLst/>
          </a:prstGeom>
          <a:solidFill>
            <a:srgbClr val="0099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C53C6D80-2D8E-4466-ABF8-6E3D8F217D76}"/>
              </a:ext>
            </a:extLst>
          </p:cNvPr>
          <p:cNvSpPr/>
          <p:nvPr/>
        </p:nvSpPr>
        <p:spPr>
          <a:xfrm>
            <a:off x="4963886" y="3374572"/>
            <a:ext cx="805542" cy="232229"/>
          </a:xfrm>
          <a:prstGeom prst="leftArrow">
            <a:avLst/>
          </a:prstGeom>
          <a:solidFill>
            <a:srgbClr val="0099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D8CBCE-C161-479B-8437-6967574BFDB7}"/>
              </a:ext>
            </a:extLst>
          </p:cNvPr>
          <p:cNvSpPr txBox="1"/>
          <p:nvPr/>
        </p:nvSpPr>
        <p:spPr>
          <a:xfrm>
            <a:off x="6168568" y="1182912"/>
            <a:ext cx="2431143" cy="319316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400" b="1" dirty="0">
                <a:solidFill>
                  <a:srgbClr val="009999"/>
                </a:solidFill>
                <a:latin typeface="Ink Free" panose="03080402000500000000" pitchFamily="66" charset="0"/>
              </a:rPr>
              <a:t>This is your starting point!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6A9C26-817E-4D56-9C13-64840195261B}"/>
              </a:ext>
            </a:extLst>
          </p:cNvPr>
          <p:cNvSpPr txBox="1"/>
          <p:nvPr/>
        </p:nvSpPr>
        <p:spPr>
          <a:xfrm>
            <a:off x="6168570" y="1719941"/>
            <a:ext cx="2431143" cy="319316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400" b="1" dirty="0">
                <a:solidFill>
                  <a:srgbClr val="009999"/>
                </a:solidFill>
                <a:latin typeface="Ink Free" panose="03080402000500000000" pitchFamily="66" charset="0"/>
              </a:rPr>
              <a:t>Open issues &amp; contribute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51587-7EB0-4518-ABF3-8D4ADAAF69B3}"/>
              </a:ext>
            </a:extLst>
          </p:cNvPr>
          <p:cNvSpPr txBox="1"/>
          <p:nvPr/>
        </p:nvSpPr>
        <p:spPr>
          <a:xfrm>
            <a:off x="6168569" y="2252434"/>
            <a:ext cx="2431143" cy="319316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400" b="1" dirty="0">
                <a:solidFill>
                  <a:srgbClr val="009999"/>
                </a:solidFill>
                <a:latin typeface="Ink Free" panose="03080402000500000000" pitchFamily="66" charset="0"/>
              </a:rPr>
              <a:t>The go-to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F76445-6DD2-43A0-96C0-C385D14786F6}"/>
              </a:ext>
            </a:extLst>
          </p:cNvPr>
          <p:cNvSpPr txBox="1"/>
          <p:nvPr/>
        </p:nvSpPr>
        <p:spPr>
          <a:xfrm>
            <a:off x="6168568" y="2784927"/>
            <a:ext cx="2431143" cy="319316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400" b="1" dirty="0">
                <a:solidFill>
                  <a:srgbClr val="009999"/>
                </a:solidFill>
                <a:latin typeface="Ink Free" panose="03080402000500000000" pitchFamily="66" charset="0"/>
              </a:rPr>
              <a:t>Getting started to write tests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D58C39-733A-4510-BE1D-18C1D8F25959}"/>
              </a:ext>
            </a:extLst>
          </p:cNvPr>
          <p:cNvSpPr txBox="1"/>
          <p:nvPr/>
        </p:nvSpPr>
        <p:spPr>
          <a:xfrm>
            <a:off x="6168568" y="3317420"/>
            <a:ext cx="2431143" cy="319316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sz="1400" b="1" dirty="0">
                <a:solidFill>
                  <a:srgbClr val="009999"/>
                </a:solidFill>
                <a:latin typeface="Ink Free" panose="03080402000500000000" pitchFamily="66" charset="0"/>
              </a:rPr>
              <a:t>To read while writing your first tests</a:t>
            </a:r>
          </a:p>
        </p:txBody>
      </p:sp>
    </p:spTree>
    <p:extLst>
      <p:ext uri="{BB962C8B-B14F-4D97-AF65-F5344CB8AC3E}">
        <p14:creationId xmlns:p14="http://schemas.microsoft.com/office/powerpoint/2010/main" val="481517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lane, cake, air, various&#10;&#10;Description automatically generated">
            <a:extLst>
              <a:ext uri="{FF2B5EF4-FFF2-40B4-BE49-F238E27FC236}">
                <a16:creationId xmlns:a16="http://schemas.microsoft.com/office/drawing/2014/main" id="{05048CB6-1207-4310-A329-68366DB6D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631" y="529771"/>
            <a:ext cx="4520795" cy="3773714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28492DAE-F7E4-4EBC-B3CA-A1DEE5896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201" y="907868"/>
            <a:ext cx="409194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25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F21C99AB-D078-419F-B3A1-5D734CDB1D0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F21C99AB-D078-419F-B3A1-5D734CDB1D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DECB1224-3C5D-4458-B24C-6F3984AE146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/>
            <a:endParaRPr lang="en-US" sz="2000" dirty="0">
              <a:solidFill>
                <a:schemeClr val="bg1"/>
              </a:solidFill>
              <a:latin typeface="Nokia Pure Text Light" panose="020B0304040602060303" pitchFamily="34" charset="0"/>
              <a:cs typeface="Arial" panose="020B0604020202020204" pitchFamily="34" charset="0"/>
              <a:sym typeface="Nokia Pure Text Light" panose="020B03040406020603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3583B-16DF-417B-AB22-189BB17BDC86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Exercise – in classroom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A6C8-5D14-4517-83EA-69237508DDF2}"/>
              </a:ext>
            </a:extLst>
          </p:cNvPr>
          <p:cNvSpPr txBox="1"/>
          <p:nvPr/>
        </p:nvSpPr>
        <p:spPr>
          <a:xfrm>
            <a:off x="668957" y="952902"/>
            <a:ext cx="8205536" cy="3686475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Automate a test which places an order on </a:t>
            </a:r>
            <a:r>
              <a:rPr lang="en-US" sz="1600" dirty="0">
                <a:hlinkClick r:id="rId7"/>
              </a:rPr>
              <a:t>https://www.saucedemo.com/</a:t>
            </a:r>
            <a:endParaRPr lang="en-US" sz="1600" dirty="0"/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The order should contain: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 - 1 x Sauce Labs Onesie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 - 1 x </a:t>
            </a:r>
            <a:r>
              <a:rPr lang="en-US" sz="1600" dirty="0" err="1">
                <a:solidFill>
                  <a:schemeClr val="tx2"/>
                </a:solidFill>
              </a:rPr>
              <a:t>Test.allTheThings</a:t>
            </a:r>
            <a:r>
              <a:rPr lang="en-US" sz="1600" dirty="0">
                <a:solidFill>
                  <a:schemeClr val="tx2"/>
                </a:solidFill>
              </a:rPr>
              <a:t>() T-Shirt (Red)</a:t>
            </a:r>
          </a:p>
          <a:p>
            <a:pPr>
              <a:spcAft>
                <a:spcPts val="300"/>
              </a:spcAft>
              <a:buSzPct val="100000"/>
            </a:pPr>
            <a:endParaRPr lang="en-US" sz="1600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Check that the order total should be $25.90</a:t>
            </a:r>
          </a:p>
          <a:p>
            <a:pPr>
              <a:spcAft>
                <a:spcPts val="300"/>
              </a:spcAft>
              <a:buSzPct val="100000"/>
            </a:pP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23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9AE5E2-3067-4143-B3BE-441092226F8C}"/>
              </a:ext>
            </a:extLst>
          </p:cNvPr>
          <p:cNvSpPr txBox="1"/>
          <p:nvPr/>
        </p:nvSpPr>
        <p:spPr>
          <a:xfrm>
            <a:off x="0" y="126838"/>
            <a:ext cx="9144000" cy="457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2000" dirty="0">
                <a:solidFill>
                  <a:schemeClr val="bg1"/>
                </a:solidFill>
                <a:latin typeface="Nokia Pure Headline" panose="020B0504040602060303" pitchFamily="34" charset="0"/>
              </a:rPr>
              <a:t>Exercise – homework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A9886-8E33-4794-AD9D-63DC055F85F0}"/>
              </a:ext>
            </a:extLst>
          </p:cNvPr>
          <p:cNvSpPr txBox="1"/>
          <p:nvPr/>
        </p:nvSpPr>
        <p:spPr>
          <a:xfrm>
            <a:off x="668957" y="952903"/>
            <a:ext cx="7806087" cy="3681662"/>
          </a:xfrm>
          <a:prstGeom prst="rect">
            <a:avLst/>
          </a:prstGeom>
          <a:noFill/>
        </p:spPr>
        <p:txBody>
          <a:bodyPr wrap="non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1. Read </a:t>
            </a:r>
            <a:r>
              <a:rPr lang="en-US" sz="1600" dirty="0">
                <a:solidFill>
                  <a:schemeClr val="tx2"/>
                </a:solidFill>
                <a:hlinkClick r:id="rId2"/>
              </a:rPr>
              <a:t>How to write good test cases using Robot Framework</a:t>
            </a:r>
            <a:endParaRPr lang="en-US" sz="16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AutoNum type="arabicPeriod"/>
            </a:pPr>
            <a:endParaRPr lang="en-US" sz="1600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2. Finish and improve the classroom test case by extracting variables, keywords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where necessary (e.g. Add Item To Cart, Go To Checkout), extract resource file 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(see </a:t>
            </a:r>
            <a:r>
              <a:rPr lang="en-US" sz="1600" dirty="0">
                <a:solidFill>
                  <a:schemeClr val="tx2"/>
                </a:solidFill>
                <a:hlinkClick r:id="rId3"/>
              </a:rPr>
              <a:t>here</a:t>
            </a:r>
            <a:r>
              <a:rPr lang="en-US" sz="1600" dirty="0">
                <a:solidFill>
                  <a:schemeClr val="tx2"/>
                </a:solidFill>
              </a:rPr>
              <a:t>).</a:t>
            </a:r>
          </a:p>
          <a:p>
            <a:pPr>
              <a:spcAft>
                <a:spcPts val="300"/>
              </a:spcAft>
              <a:buSzPct val="100000"/>
            </a:pPr>
            <a:endParaRPr lang="en-US" sz="1600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3. Sandbox Exercise with Robot Framework: Automate something fun! 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Can be any webpage of your choosing (e.g. </a:t>
            </a:r>
            <a:r>
              <a:rPr lang="en-US" sz="1600" dirty="0" err="1">
                <a:solidFill>
                  <a:schemeClr val="tx2"/>
                </a:solidFill>
              </a:rPr>
              <a:t>Youtube</a:t>
            </a:r>
            <a:r>
              <a:rPr lang="en-US" sz="1600" dirty="0">
                <a:solidFill>
                  <a:schemeClr val="tx2"/>
                </a:solidFill>
              </a:rPr>
              <a:t>, Steam, </a:t>
            </a:r>
            <a:r>
              <a:rPr lang="en-US" sz="1600" dirty="0" err="1">
                <a:solidFill>
                  <a:schemeClr val="tx2"/>
                </a:solidFill>
              </a:rPr>
              <a:t>StackOverflow</a:t>
            </a:r>
            <a:r>
              <a:rPr lang="en-US" sz="1600" dirty="0">
                <a:solidFill>
                  <a:schemeClr val="tx2"/>
                </a:solidFill>
              </a:rPr>
              <a:t> etc.). 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Don’t forget we’re writing tests and you have to verify something.  </a:t>
            </a:r>
          </a:p>
        </p:txBody>
      </p:sp>
    </p:spTree>
    <p:extLst>
      <p:ext uri="{BB962C8B-B14F-4D97-AF65-F5344CB8AC3E}">
        <p14:creationId xmlns:p14="http://schemas.microsoft.com/office/powerpoint/2010/main" val="195623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1464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MTH7n2Sd2N3A0lKMVoSg"/>
</p:tagLst>
</file>

<file path=ppt/theme/theme1.xml><?xml version="1.0" encoding="utf-8"?>
<a:theme xmlns:a="http://schemas.openxmlformats.org/drawingml/2006/main" name="1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S21015_Nokia Pure PowerPoint" id="{DB366936-CDBD-4680-BE6A-529E8906FE8F}" vid="{596A7182-A3CB-4127-A499-66CF58D365AE}"/>
    </a:ext>
  </a:extLst>
</a:theme>
</file>

<file path=ppt/theme/theme2.xml><?xml version="1.0" encoding="utf-8"?>
<a:theme xmlns:a="http://schemas.openxmlformats.org/drawingml/2006/main" name="1_c 2018 Nokia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S21015_Nokia Pure PowerPoint" id="{DB366936-CDBD-4680-BE6A-529E8906FE8F}" vid="{C0AD08C2-AA5D-4B73-A738-D7D0C9E1D721}"/>
    </a:ext>
  </a:extLst>
</a:theme>
</file>

<file path=ppt/theme/theme3.xml><?xml version="1.0" encoding="utf-8"?>
<a:theme xmlns:a="http://schemas.openxmlformats.org/drawingml/2006/main" name="3_Blu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571487A9-480B-4B80-83FB-6E3761D8F2DE}"/>
    </a:ext>
  </a:extLst>
</a:theme>
</file>

<file path=ppt/theme/theme4.xml><?xml version="1.0" encoding="utf-8"?>
<a:theme xmlns:a="http://schemas.openxmlformats.org/drawingml/2006/main" name="4_Blu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C90C5733-D248-41AA-94E1-AE931B179280}"/>
    </a:ext>
  </a:extLst>
</a:theme>
</file>

<file path=ppt/theme/theme5.xml><?xml version="1.0" encoding="utf-8"?>
<a:theme xmlns:a="http://schemas.openxmlformats.org/drawingml/2006/main" name="5_Whit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D30BE608-2AEA-44CB-878B-6F3D784F0BD2}"/>
    </a:ext>
  </a:extLst>
</a:theme>
</file>

<file path=ppt/theme/theme6.xml><?xml version="1.0" encoding="utf-8"?>
<a:theme xmlns:a="http://schemas.openxmlformats.org/drawingml/2006/main" name="6_Gray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B5CCBDF6-BBAD-4A8A-A132-5F2D954EC56A}"/>
    </a:ext>
  </a:extLst>
</a:theme>
</file>

<file path=ppt/theme/theme7.xml><?xml version="1.0" encoding="utf-8"?>
<a:theme xmlns:a="http://schemas.openxmlformats.org/drawingml/2006/main" name="1_1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owerPoint" id="{E7D3A715-BCA4-4FF0-8514-18648E1E37B4}" vid="{BEDE3391-55BB-4B7A-88ED-7B8E863A05E3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ideFromDelve xmlns="71c5aaf6-e6ce-465b-b873-5148d2a4c105">false</HideFromDelve>
    <_dlc_DocId xmlns="71c5aaf6-e6ce-465b-b873-5148d2a4c105">P2IBP23IRR2M-1808410937-117</_dlc_DocId>
    <_dlc_DocIdUrl xmlns="71c5aaf6-e6ce-465b-b873-5148d2a4c105">
      <Url>https://nokia.sharepoint.com/sites/SRDTEurope2/_layouts/15/DocIdRedir.aspx?ID=P2IBP23IRR2M-1808410937-117</Url>
      <Description>P2IBP23IRR2M-1808410937-117</Description>
    </_dlc_DocIdUrl>
    <SharedWithUsers xmlns="81ee225c-aa12-4c13-b2d4-ccaf4141e016">
      <UserInfo>
        <DisplayName>Mion, Marcello (Nokia - IT/Vimercate)</DisplayName>
        <AccountId>30470</AccountId>
        <AccountType/>
      </UserInfo>
      <UserInfo>
        <DisplayName>Greijula, Sirkku (Nokia - FI/Tampere)</DisplayName>
        <AccountId>21237</AccountId>
        <AccountType/>
      </UserInfo>
      <UserInfo>
        <DisplayName>Gupta, Uvnik (Nokia - IN/Bangalore)</DisplayName>
        <AccountId>22035</AccountId>
        <AccountType/>
      </UserInfo>
      <UserInfo>
        <DisplayName>Che Haron, Firdaus (Nokia - MY/Kuala Lumpur)</DisplayName>
        <AccountId>12061</AccountId>
        <AccountType/>
      </UserInfo>
      <UserInfo>
        <DisplayName>Martins Joao Cruz, Catarina (Nokia - DE/Munich)</DisplayName>
        <AccountId>2894</AccountId>
        <AccountType/>
      </UserInfo>
      <UserInfo>
        <DisplayName>Gero</DisplayName>
        <AccountId>10416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1481BF321A614383B8CBF69F998146" ma:contentTypeVersion="8" ma:contentTypeDescription="Create a new document." ma:contentTypeScope="" ma:versionID="c5b35706dd89437d38fa56db300c5fbe">
  <xsd:schema xmlns:xsd="http://www.w3.org/2001/XMLSchema" xmlns:xs="http://www.w3.org/2001/XMLSchema" xmlns:p="http://schemas.microsoft.com/office/2006/metadata/properties" xmlns:ns2="71c5aaf6-e6ce-465b-b873-5148d2a4c105" xmlns:ns3="4aca7268-d8b3-47f7-a7a1-deac73a46bfa" xmlns:ns4="81ee225c-aa12-4c13-b2d4-ccaf4141e016" targetNamespace="http://schemas.microsoft.com/office/2006/metadata/properties" ma:root="true" ma:fieldsID="b252579911523b1c5f7793db198af3b6" ns2:_="" ns3:_="" ns4:_="">
    <xsd:import namespace="71c5aaf6-e6ce-465b-b873-5148d2a4c105"/>
    <xsd:import namespace="4aca7268-d8b3-47f7-a7a1-deac73a46bfa"/>
    <xsd:import namespace="81ee225c-aa12-4c13-b2d4-ccaf4141e01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1" nillable="true" ma:displayName="HideFromDelve" ma:default="0" ma:internalName="HideFromDelv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ca7268-d8b3-47f7-a7a1-deac73a46b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e225c-aa12-4c13-b2d4-ccaf4141e01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?mso-contentType ?>
<SharedContentType xmlns="Microsoft.SharePoint.Taxonomy.ContentTypeSync" SourceId="939405ac-235b-4c6a-9859-c70ae8c02984" ContentTypeId="0x0101" PreviousValue="true"/>
</file>

<file path=customXml/itemProps1.xml><?xml version="1.0" encoding="utf-8"?>
<ds:datastoreItem xmlns:ds="http://schemas.openxmlformats.org/officeDocument/2006/customXml" ds:itemID="{F1A5087E-D875-4389-9B23-8434F51180AC}">
  <ds:schemaRefs>
    <ds:schemaRef ds:uri="http://schemas.microsoft.com/office/2006/documentManagement/types"/>
    <ds:schemaRef ds:uri="81ee225c-aa12-4c13-b2d4-ccaf4141e016"/>
    <ds:schemaRef ds:uri="http://purl.org/dc/terms/"/>
    <ds:schemaRef ds:uri="4aca7268-d8b3-47f7-a7a1-deac73a46bfa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71c5aaf6-e6ce-465b-b873-5148d2a4c105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E0BE65-21CD-4B78-BE78-E6CDF62E16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c5aaf6-e6ce-465b-b873-5148d2a4c105"/>
    <ds:schemaRef ds:uri="4aca7268-d8b3-47f7-a7a1-deac73a46bfa"/>
    <ds:schemaRef ds:uri="81ee225c-aa12-4c13-b2d4-ccaf4141e0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ED2D23-3C7F-41E8-ACA8-DA482829100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BDB0496-1A1D-4B21-BC76-DDA1AAE9922B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1F4D8806-FA5B-45F1-AEA8-023EA36205CB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Nokia - Pure PowerPoint template 2020</Template>
  <TotalTime>6331</TotalTime>
  <Words>1479</Words>
  <Application>Microsoft Office PowerPoint</Application>
  <PresentationFormat>On-screen Show (16:9)</PresentationFormat>
  <Paragraphs>266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7" baseType="lpstr">
      <vt:lpstr>Arial</vt:lpstr>
      <vt:lpstr>Calibri</vt:lpstr>
      <vt:lpstr>Calibri Light</vt:lpstr>
      <vt:lpstr>Courier</vt:lpstr>
      <vt:lpstr>Courier New</vt:lpstr>
      <vt:lpstr>Ink Free</vt:lpstr>
      <vt:lpstr>Nokia Pure Headline</vt:lpstr>
      <vt:lpstr>Nokia Pure Headline Light</vt:lpstr>
      <vt:lpstr>Nokia Pure Headline Ultra Light</vt:lpstr>
      <vt:lpstr>Nokia Pure Text</vt:lpstr>
      <vt:lpstr>Nokia Pure Text Light</vt:lpstr>
      <vt:lpstr>Wingdings</vt:lpstr>
      <vt:lpstr>1 White Master</vt:lpstr>
      <vt:lpstr>1_c 2018 Nokia</vt:lpstr>
      <vt:lpstr>3_Blue</vt:lpstr>
      <vt:lpstr>4_Blue End Slide</vt:lpstr>
      <vt:lpstr>5_White End Slide</vt:lpstr>
      <vt:lpstr>6_Gray</vt:lpstr>
      <vt:lpstr>1_1 White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Zaharie, Ancuta (Nokia - RO/Timisoara)</dc:creator>
  <cp:lastModifiedBy>Parvu, Mihai-Catalin (Nokia - RO/Timisoara)</cp:lastModifiedBy>
  <cp:revision>114</cp:revision>
  <dcterms:created xsi:type="dcterms:W3CDTF">2020-07-03T10:54:01Z</dcterms:created>
  <dcterms:modified xsi:type="dcterms:W3CDTF">2020-07-20T12:36:17Z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0x010100B51481BF321A614383B8CBF69F998146</vt:lpwstr>
  </property>
  <property fmtid="{D5CDD505-2E9C-101B-9397-08002B2CF9AE}" pid="3" name="_dlc_DocIdItemGuid">
    <vt:lpwstr>c2e9f396-9b40-4ebf-ba31-af5101b175b4</vt:lpwstr>
  </property>
  <property fmtid="{D5CDD505-2E9C-101B-9397-08002B2CF9AE}" pid="4" name="SharedWithUsers">
    <vt:lpwstr>30470;#Mion, Marcello (Nokia - IT/Vimercate);#21237;#Greijula, Sirkku (Nokia - FI/Tampere);#22035;#Gupta, Uvnik (Nokia - IN/Bangalore);#12061;#Che Haron, Firdaus (Nokia - MY/Kuala Lumpur);#2894;#Martins Joao Cruz, Catarina (Nokia - DE/Munich);#10416;#Gero</vt:lpwstr>
  </property>
</Properties>
</file>