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7"/>
    <p:sldMasterId id="2147483712" r:id="rId8"/>
    <p:sldMasterId id="2147483673" r:id="rId9"/>
    <p:sldMasterId id="2147483676" r:id="rId10"/>
    <p:sldMasterId id="2147483678" r:id="rId11"/>
    <p:sldMasterId id="2147483680" r:id="rId12"/>
  </p:sldMasterIdLst>
  <p:notesMasterIdLst>
    <p:notesMasterId r:id="rId25"/>
  </p:notesMasterIdLst>
  <p:sldIdLst>
    <p:sldId id="257" r:id="rId13"/>
    <p:sldId id="256" r:id="rId14"/>
    <p:sldId id="279" r:id="rId15"/>
    <p:sldId id="278" r:id="rId16"/>
    <p:sldId id="271" r:id="rId17"/>
    <p:sldId id="273" r:id="rId18"/>
    <p:sldId id="272" r:id="rId19"/>
    <p:sldId id="274" r:id="rId20"/>
    <p:sldId id="277" r:id="rId21"/>
    <p:sldId id="275" r:id="rId22"/>
    <p:sldId id="276" r:id="rId23"/>
    <p:sldId id="264" r:id="rId2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824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2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1.xml"/><Relationship Id="rId12" Type="http://schemas.openxmlformats.org/officeDocument/2006/relationships/slideMaster" Target="slideMasters/slideMaster6.xml"/><Relationship Id="rId17" Type="http://schemas.openxmlformats.org/officeDocument/2006/relationships/slide" Target="slides/slide5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1" Type="http://schemas.openxmlformats.org/officeDocument/2006/relationships/slideMaster" Target="slideMasters/slideMaster5.xml"/><Relationship Id="rId24" Type="http://schemas.openxmlformats.org/officeDocument/2006/relationships/slide" Target="slides/slide12.xml"/><Relationship Id="rId5" Type="http://schemas.openxmlformats.org/officeDocument/2006/relationships/customXml" Target="../customXml/item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theme" Target="theme/theme1.xml"/><Relationship Id="rId10" Type="http://schemas.openxmlformats.org/officeDocument/2006/relationships/slideMaster" Target="slideMasters/slideMaster4.xml"/><Relationship Id="rId19" Type="http://schemas.openxmlformats.org/officeDocument/2006/relationships/slide" Target="slides/slide7.xml"/><Relationship Id="rId4" Type="http://schemas.openxmlformats.org/officeDocument/2006/relationships/customXml" Target="../customXml/item4.xml"/><Relationship Id="rId9" Type="http://schemas.openxmlformats.org/officeDocument/2006/relationships/slideMaster" Target="slideMasters/slideMaster3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03831C-DEBA-4A3A-8C36-FD8115E217DA}" type="datetimeFigureOut">
              <a:rPr lang="en-US" smtClean="0"/>
              <a:t>7/26/2020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4EF5B-ECC8-43EE-A509-D601DDF42A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80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_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543A0E-70E6-46DB-8F7C-06A0214599E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78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2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1D69DC-9F16-4CA4-A0E0-1872B8AD5DB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99A4E175-66C0-4DDD-AA07-5D4B03CEA1D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F4102E0A-65A1-4E0C-ABCA-2CEBB8D5BF5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</p:spTree>
    <p:extLst>
      <p:ext uri="{BB962C8B-B14F-4D97-AF65-F5344CB8AC3E}">
        <p14:creationId xmlns:p14="http://schemas.microsoft.com/office/powerpoint/2010/main" val="36528516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3_Single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5DDEE8-FF3C-4742-BB8C-B09BB2526AC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B4B383DF-E841-4958-AC70-1FE077578D0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5" name="Text Placeholder 42">
            <a:extLst>
              <a:ext uri="{FF2B5EF4-FFF2-40B4-BE49-F238E27FC236}">
                <a16:creationId xmlns:a16="http://schemas.microsoft.com/office/drawing/2014/main" id="{6D425CB6-0BAB-4AB6-ADCE-D68F0C1DF8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87D8427-6029-4956-BF93-C47F0DB8797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85524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4_Single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6" name="Table Placeholder 2">
            <a:extLst>
              <a:ext uri="{FF2B5EF4-FFF2-40B4-BE49-F238E27FC236}">
                <a16:creationId xmlns:a16="http://schemas.microsoft.com/office/drawing/2014/main" id="{1CF4B30C-BC0A-4BED-8EEF-4DDEF7B9FABC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746ED1-96F6-4AE8-9D3A-0266CB4B7380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4158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5_Single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7" name="SmartArt Placeholder 2">
            <a:extLst>
              <a:ext uri="{FF2B5EF4-FFF2-40B4-BE49-F238E27FC236}">
                <a16:creationId xmlns:a16="http://schemas.microsoft.com/office/drawing/2014/main" id="{9E969AE7-D418-4354-A166-2D9EC9AFFBD5}"/>
              </a:ext>
            </a:extLst>
          </p:cNvPr>
          <p:cNvSpPr>
            <a:spLocks noGrp="1"/>
          </p:cNvSpPr>
          <p:nvPr>
            <p:ph type="dgm" sz="quarter" idx="14"/>
          </p:nvPr>
        </p:nvSpPr>
        <p:spPr>
          <a:xfrm>
            <a:off x="417600" y="1076400"/>
            <a:ext cx="8308800" cy="3564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SmartArt graphic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B72D45-B478-45D6-BC5D-D958ACDFA9E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460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6_Two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48EFACD-CEB2-4692-815C-86D19FBB4A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3CBCB907-9E7B-4CB2-B9DE-4FC3076D2A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DFDF-6038-42CF-9F88-F60BDA6A7F2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147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7_Two Column Mix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C469832-DACB-40B0-988E-5D708FA9374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716000" y="1080000"/>
            <a:ext cx="40104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9" name="Table Placeholder 4">
            <a:extLst>
              <a:ext uri="{FF2B5EF4-FFF2-40B4-BE49-F238E27FC236}">
                <a16:creationId xmlns:a16="http://schemas.microsoft.com/office/drawing/2014/main" id="{B3F0CABE-2F16-456A-A120-390FEDFE43A9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17600" y="1080000"/>
            <a:ext cx="40104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 noProof="0"/>
              <a:t>Click icon to add table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8BA92-8F61-4F9A-B36F-9769D72C71A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535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8_Three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2B478DF6-0668-488C-9E0C-4567E0DE8FC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EC091DE-89A6-4271-8BB9-BAB40C67B3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75856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1772D9-E08D-420E-AB34-CCAC26D77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34400" y="1080000"/>
            <a:ext cx="25920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D23F99-89E3-4290-B5FE-D72F99F36EA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495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9_Three Column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9" name="Table Placeholder 2">
            <a:extLst>
              <a:ext uri="{FF2B5EF4-FFF2-40B4-BE49-F238E27FC236}">
                <a16:creationId xmlns:a16="http://schemas.microsoft.com/office/drawing/2014/main" id="{D0874136-2C1C-4222-98DA-D238FBD9743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17312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2" name="Table Placeholder 2">
            <a:extLst>
              <a:ext uri="{FF2B5EF4-FFF2-40B4-BE49-F238E27FC236}">
                <a16:creationId xmlns:a16="http://schemas.microsoft.com/office/drawing/2014/main" id="{B9EA6A3E-9087-42C1-89A6-8204E100E361}"/>
              </a:ext>
            </a:extLst>
          </p:cNvPr>
          <p:cNvSpPr>
            <a:spLocks noGrp="1"/>
          </p:cNvSpPr>
          <p:nvPr>
            <p:ph type="tbl" sz="quarter" idx="16"/>
          </p:nvPr>
        </p:nvSpPr>
        <p:spPr>
          <a:xfrm>
            <a:off x="6132423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3" name="Table Placeholder 2">
            <a:extLst>
              <a:ext uri="{FF2B5EF4-FFF2-40B4-BE49-F238E27FC236}">
                <a16:creationId xmlns:a16="http://schemas.microsoft.com/office/drawing/2014/main" id="{98BD97D8-C9D8-4E9B-90F2-C010D6EE811E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273879" y="1080000"/>
            <a:ext cx="2592000" cy="3560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2"/>
                </a:solidFill>
              </a:defRPr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BC81E09-B357-4439-BD31-02945978E3D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7904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.10_Four Column Tex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4F384717-39C3-4AC7-9EA1-C3EA1A638B6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2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noProof="0" dirty="0"/>
              <a:t>Click to edit secondary headline</a:t>
            </a:r>
          </a:p>
        </p:txBody>
      </p:sp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6D6C4B20-F952-4A3C-AB73-2A06B8C3F6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Click to edit headline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09C1B709-09CD-404B-B852-419096D0681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2D9B7F28-94B8-42B4-A97D-4EBCB20F67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60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7AB4DD6D-9400-4306-8B75-2CFF920828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944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7D6FBD4C-557B-402F-9039-EF287BD8EA5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832800" y="1080000"/>
            <a:ext cx="18936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tx2"/>
                </a:solidFill>
                <a:latin typeface="+mn-lt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2"/>
                </a:solidFill>
                <a:latin typeface="+mn-lt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2"/>
                </a:solidFill>
                <a:latin typeface="+mn-lt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2"/>
                </a:solidFill>
                <a:latin typeface="+mn-lt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tx2"/>
                </a:solidFill>
                <a:latin typeface="+mn-lt"/>
              </a:defRPr>
            </a:lvl5pPr>
            <a:lvl6pPr marL="1382400" indent="-22860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Char char="‒"/>
              <a:defRPr sz="800" baseline="0">
                <a:solidFill>
                  <a:schemeClr val="tx2"/>
                </a:solidFill>
              </a:defRPr>
            </a:lvl6pPr>
            <a:lvl7pPr marL="1612800">
              <a:spcBef>
                <a:spcPts val="0"/>
              </a:spcBef>
              <a:spcAft>
                <a:spcPts val="600"/>
              </a:spcAft>
              <a:defRPr sz="700">
                <a:solidFill>
                  <a:schemeClr val="tx2"/>
                </a:solidFill>
              </a:defRPr>
            </a:lvl7pPr>
            <a:lvl8pPr marL="1843200">
              <a:spcBef>
                <a:spcPts val="0"/>
              </a:spcBef>
              <a:spcAft>
                <a:spcPts val="600"/>
              </a:spcAft>
              <a:defRPr sz="600">
                <a:solidFill>
                  <a:schemeClr val="tx2"/>
                </a:solidFill>
              </a:defRPr>
            </a:lvl8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EF9DDB-0B87-42B5-98DF-391316BABF9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493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.1_White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tx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502" y="3060000"/>
            <a:ext cx="8291898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tx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41332EC-6B80-4828-AE81-B63F414EEB6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2A079B4-2296-4AF6-9A4A-00A11E579D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" y="36000"/>
            <a:ext cx="1599250" cy="67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873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1_Blue 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42">
            <a:extLst>
              <a:ext uri="{FF2B5EF4-FFF2-40B4-BE49-F238E27FC236}">
                <a16:creationId xmlns:a16="http://schemas.microsoft.com/office/drawing/2014/main" id="{A4F04206-BA94-4881-BA5F-F4855044D6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200" y="900000"/>
            <a:ext cx="8359200" cy="1980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66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Main headline in sentence case here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82395FE5-ACED-4CF9-93C7-742199141A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3060000"/>
            <a:ext cx="8308800" cy="15768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  <a:lvl6pPr marL="1153800" indent="0">
              <a:spcBef>
                <a:spcPts val="0"/>
              </a:spcBef>
              <a:spcAft>
                <a:spcPts val="600"/>
              </a:spcAft>
              <a:buFont typeface="Nokia Pure Text" panose="020B0503020202020204" pitchFamily="34" charset="0"/>
              <a:buNone/>
              <a:defRPr sz="800" baseline="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6pPr>
            <a:lvl7pPr marL="1384200" indent="0">
              <a:spcBef>
                <a:spcPts val="0"/>
              </a:spcBef>
              <a:spcAft>
                <a:spcPts val="600"/>
              </a:spcAft>
              <a:buNone/>
              <a:defRPr sz="7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7pPr>
            <a:lvl8pPr marL="1614600" indent="0">
              <a:spcBef>
                <a:spcPts val="0"/>
              </a:spcBef>
              <a:spcAft>
                <a:spcPts val="600"/>
              </a:spcAft>
              <a:buNone/>
              <a:defRPr sz="600">
                <a:solidFill>
                  <a:schemeClr val="tx2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8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6E85245-6EF4-4401-89A5-4E7398F482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" y="36000"/>
            <a:ext cx="1599250" cy="673200"/>
          </a:xfrm>
          <a:prstGeom prst="rect">
            <a:avLst/>
          </a:prstGeom>
        </p:spPr>
      </p:pic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7354AD9-06FB-4C15-A48D-5001BBC6FF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8CB4E99-5D9B-49EB-A80D-C2366451A67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988" y="34045"/>
            <a:ext cx="1589956" cy="669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8186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.2_Blue Text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B6E85245-6EF4-4401-89A5-4E7398F4827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00" y="36000"/>
            <a:ext cx="1599250" cy="673200"/>
          </a:xfrm>
          <a:prstGeom prst="rect">
            <a:avLst/>
          </a:prstGeom>
        </p:spPr>
      </p:pic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01F9EFC-1397-476F-AC8D-B29C394E4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252EEB5-B067-4FF5-9D6E-45AD77249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9673B1-D3FB-43B2-8D91-D053CDDCAFBD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1961597-1BB1-4AC0-81C4-ECF117F5AF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6905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1_Blue End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49010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.1_White 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9167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1_Gray Text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201F9EFC-1397-476F-AC8D-B29C394E44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17600" y="5904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>
                <a:solidFill>
                  <a:schemeClr val="bg1"/>
                </a:solidFill>
                <a:latin typeface="+mj-lt"/>
              </a:defRPr>
            </a:lvl1pPr>
            <a:lvl2pPr>
              <a:defRPr sz="2000">
                <a:latin typeface="+mj-lt"/>
              </a:defRPr>
            </a:lvl2pPr>
            <a:lvl3pPr>
              <a:defRPr sz="2000">
                <a:latin typeface="+mj-lt"/>
              </a:defRPr>
            </a:lvl3pPr>
            <a:lvl4pPr>
              <a:defRPr sz="2000">
                <a:latin typeface="+mj-lt"/>
              </a:defRPr>
            </a:lvl4pPr>
            <a:lvl5pPr>
              <a:defRPr sz="2000">
                <a:latin typeface="+mj-lt"/>
              </a:defRPr>
            </a:lvl5pPr>
          </a:lstStyle>
          <a:p>
            <a:pPr lvl="0"/>
            <a:r>
              <a:rPr lang="en-US" dirty="0"/>
              <a:t>Click to edit secondary headline</a:t>
            </a:r>
          </a:p>
        </p:txBody>
      </p:sp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800"/>
            <a:ext cx="8308800" cy="3096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252EEB5-B067-4FF5-9D6E-45AD772491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600" y="1080000"/>
            <a:ext cx="8308800" cy="35604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6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  <a:lvl2pPr marL="230400" indent="0">
              <a:spcBef>
                <a:spcPts val="0"/>
              </a:spcBef>
              <a:spcAft>
                <a:spcPts val="600"/>
              </a:spcAft>
              <a:buNone/>
              <a:defRPr sz="14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2pPr>
            <a:lvl3pPr marL="462600" indent="0">
              <a:spcBef>
                <a:spcPts val="0"/>
              </a:spcBef>
              <a:spcAft>
                <a:spcPts val="600"/>
              </a:spcAft>
              <a:buNone/>
              <a:defRPr sz="12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3pPr>
            <a:lvl4pPr marL="693000" indent="0">
              <a:spcBef>
                <a:spcPts val="0"/>
              </a:spcBef>
              <a:spcAft>
                <a:spcPts val="600"/>
              </a:spcAft>
              <a:buNone/>
              <a:defRPr sz="10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4pPr>
            <a:lvl5pPr marL="923400" indent="0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22E6FA3-ED47-4E0C-B044-550E170D1A0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1496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2_Gray Blan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4E133-AF05-4EA9-B8C1-517DA46C9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486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.3_Gray Divider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42">
            <a:extLst>
              <a:ext uri="{FF2B5EF4-FFF2-40B4-BE49-F238E27FC236}">
                <a16:creationId xmlns:a16="http://schemas.microsoft.com/office/drawing/2014/main" id="{B5196263-821B-4B0A-B8F0-F314EF3ADF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600" y="280799"/>
            <a:ext cx="8308800" cy="176050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4400" baseline="0">
                <a:solidFill>
                  <a:schemeClr val="bg1"/>
                </a:solidFill>
                <a:latin typeface="Nokia Pure Headline Ultra Light" panose="020B0204020202020204" pitchFamily="34" charset="0"/>
              </a:defRPr>
            </a:lvl1pPr>
          </a:lstStyle>
          <a:p>
            <a:pPr lvl="0"/>
            <a:r>
              <a:rPr lang="en-US" dirty="0"/>
              <a:t>Click to edit headline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24E133-AF05-4EA9-B8C1-517DA46C9D2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&lt;Document ID: change ID in footer or remove&gt; &lt;Change information classification in footer&gt;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47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png"/><Relationship Id="rId4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1D57DB-1EB7-4DFA-9100-436A54579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C5FB64-385A-4093-B8B2-2F00FF978275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226" y="4651000"/>
            <a:ext cx="1008112" cy="424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8916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85" r:id="rId2"/>
    <p:sldLayoutId id="2147483686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87D0E1A0-C19A-4DB8-BA1F-3D71830D1A93}"/>
              </a:ext>
            </a:extLst>
          </p:cNvPr>
          <p:cNvSpPr txBox="1"/>
          <p:nvPr/>
        </p:nvSpPr>
        <p:spPr>
          <a:xfrm>
            <a:off x="755776" y="4815926"/>
            <a:ext cx="1800000" cy="123111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dirty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7920C8E0-2BA3-45B9-8A9F-1B9E59157439}"/>
              </a:ext>
            </a:extLst>
          </p:cNvPr>
          <p:cNvSpPr txBox="1">
            <a:spLocks/>
          </p:cNvSpPr>
          <p:nvPr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141D57DB-1EB7-4DFA-9100-436A54579F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&lt;Document ID: change ID in footer or remove&gt; &lt;Change information classification in footer&gt;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20BA402-4DCA-4D3B-A03B-98DA80BAB253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tx2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tx2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3873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5D8FD1-98D9-47C9-885D-370F1B25E0D7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45D477-1173-4B46-833F-F999BFE9380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5" name="Footer Placeholder 14">
            <a:extLst>
              <a:ext uri="{FF2B5EF4-FFF2-40B4-BE49-F238E27FC236}">
                <a16:creationId xmlns:a16="http://schemas.microsoft.com/office/drawing/2014/main" id="{9EA08E70-E40A-4C76-ADD7-CA63C95746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352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C76398D-C6B9-4EAD-A887-41ECEA7F301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5167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1C3A2-73EF-4E4E-97C2-1C446243E83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180" y="2031750"/>
            <a:ext cx="2565641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03880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35D8FD1-98D9-47C9-885D-370F1B25E0D7}"/>
              </a:ext>
            </a:extLst>
          </p:cNvPr>
          <p:cNvSpPr txBox="1"/>
          <p:nvPr userDrawn="1"/>
        </p:nvSpPr>
        <p:spPr>
          <a:xfrm>
            <a:off x="755776" y="4816800"/>
            <a:ext cx="1800000" cy="122237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r>
              <a:rPr lang="en-US" sz="800" noProof="0" dirty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t>© 2020 Nokia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D45D477-1173-4B46-833F-F999BFE93809}"/>
              </a:ext>
            </a:extLst>
          </p:cNvPr>
          <p:cNvSpPr txBox="1">
            <a:spLocks/>
          </p:cNvSpPr>
          <p:nvPr userDrawn="1"/>
        </p:nvSpPr>
        <p:spPr>
          <a:xfrm>
            <a:off x="419102" y="4816800"/>
            <a:ext cx="252000" cy="122400"/>
          </a:xfrm>
          <a:prstGeom prst="rect">
            <a:avLst/>
          </a:prstGeom>
        </p:spPr>
        <p:txBody>
          <a:bodyPr lIns="0" tIns="0" rIns="0" bIns="0" anchor="b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71245D3D-131A-47D1-B100-B33219007AD2}" type="slidenum">
              <a:rPr lang="en-US" sz="800" noProof="0" smtClean="0">
                <a:solidFill>
                  <a:schemeClr val="bg1"/>
                </a:solidFill>
                <a:latin typeface="Nokia Pure Text Light" panose="020B0304040602060303" pitchFamily="34" charset="0"/>
                <a:ea typeface="Nokia Pure Text Light" panose="020B0304040602060303" pitchFamily="34" charset="0"/>
                <a:cs typeface="Nokia Pure Text Light" panose="020B0304040602060303" pitchFamily="34" charset="0"/>
              </a:rPr>
              <a:pPr>
                <a:defRPr/>
              </a:pPr>
              <a:t>‹#›</a:t>
            </a:fld>
            <a:endParaRPr lang="en-US" noProof="0" dirty="0">
              <a:solidFill>
                <a:schemeClr val="bg1"/>
              </a:solidFill>
              <a:latin typeface="Nokia Pure Text Light" panose="020B0304040602060303" pitchFamily="34" charset="0"/>
              <a:ea typeface="Nokia Pure Text Light" panose="020B0304040602060303" pitchFamily="34" charset="0"/>
              <a:cs typeface="Nokia Pure Text Light" panose="020B0304040602060303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E74C75-1C44-4A6F-9F21-72B5E3ACCB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04000" y="4816800"/>
            <a:ext cx="4536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Nokia Pure Text Light" panose="020B0403020202020204" pitchFamily="34" charset="0"/>
                <a:ea typeface="Nokia Pure Text Light" panose="020B0403020202020204" pitchFamily="34" charset="0"/>
              </a:defRPr>
            </a:lvl1pPr>
          </a:lstStyle>
          <a:p>
            <a:r>
              <a:rPr lang="en-GB"/>
              <a:t>&lt;Document ID: change ID in footer or remove&gt; &lt;Change information classification in footer&gt;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538F1B2-3B70-46D3-B6FC-0199A17FB72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5813" y="4648933"/>
            <a:ext cx="1009152" cy="42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86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Office_Open_XML" TargetMode="External"/><Relationship Id="rId2" Type="http://schemas.openxmlformats.org/officeDocument/2006/relationships/hyperlink" Target="http://www.apache.org/" TargetMode="Externa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://poi.apache.org/download.html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://poi.apache.org/index.html" TargetMode="External"/><Relationship Id="rId2" Type="http://schemas.openxmlformats.org/officeDocument/2006/relationships/hyperlink" Target="http://www.eclipse.org/swt/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://poi.apache.org/spreadsheet/quick-guide.html" TargetMode="External"/><Relationship Id="rId4" Type="http://schemas.openxmlformats.org/officeDocument/2006/relationships/hyperlink" Target="http://poi.apache.org/spreadsheet/index.html" TargetMode="Externa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3AE4A4-F521-4B46-BB77-BDFFF6278B0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7200" y="3559127"/>
            <a:ext cx="8359200" cy="1005838"/>
          </a:xfrm>
        </p:spPr>
        <p:txBody>
          <a:bodyPr/>
          <a:lstStyle/>
          <a:p>
            <a:r>
              <a:rPr lang="en-US" sz="2800" b="1" dirty="0">
                <a:solidFill>
                  <a:srgbClr val="0070C0"/>
                </a:solidFill>
                <a:latin typeface="Tahoma" pitchFamily="34" charset="0"/>
              </a:rPr>
              <a:t>Apache POI</a:t>
            </a:r>
          </a:p>
          <a:p>
            <a:r>
              <a:rPr lang="en-US" sz="2800" dirty="0">
                <a:solidFill>
                  <a:srgbClr val="0070C0"/>
                </a:solidFill>
                <a:latin typeface="Tahoma" pitchFamily="34" charset="0"/>
              </a:rPr>
              <a:t>Using</a:t>
            </a:r>
            <a:r>
              <a:rPr lang="en-US" sz="2800" b="1" dirty="0">
                <a:solidFill>
                  <a:srgbClr val="0070C0"/>
                </a:solidFill>
                <a:latin typeface="Tahoma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Tahoma" pitchFamily="34" charset="0"/>
              </a:rPr>
              <a:t>Java to</a:t>
            </a:r>
            <a:r>
              <a:rPr lang="en-US" sz="2800" b="1" dirty="0">
                <a:solidFill>
                  <a:srgbClr val="0070C0"/>
                </a:solidFill>
                <a:latin typeface="Tahoma" pitchFamily="34" charset="0"/>
              </a:rPr>
              <a:t> read/write Excel </a:t>
            </a:r>
            <a:r>
              <a:rPr lang="en-US" sz="2800" dirty="0">
                <a:solidFill>
                  <a:srgbClr val="0070C0"/>
                </a:solidFill>
                <a:latin typeface="Tahoma" pitchFamily="34" charset="0"/>
              </a:rPr>
              <a:t>files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E748F3-52F3-4227-86AD-9C50826A626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4502" y="4508694"/>
            <a:ext cx="8291898" cy="308105"/>
          </a:xfrm>
        </p:spPr>
        <p:txBody>
          <a:bodyPr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 dirty="0">
                <a:solidFill>
                  <a:srgbClr val="001135"/>
                </a:solidFill>
              </a:rPr>
              <a:t>July-2020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8866F-5820-452E-883A-ECAB295F1E9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2304000" y="4740812"/>
            <a:ext cx="4561034" cy="196947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 </a:t>
            </a:r>
          </a:p>
        </p:txBody>
      </p:sp>
      <p:pic>
        <p:nvPicPr>
          <p:cNvPr id="5" name="Picture 6" descr="cover 1b5327-8FE">
            <a:extLst>
              <a:ext uri="{FF2B5EF4-FFF2-40B4-BE49-F238E27FC236}">
                <a16:creationId xmlns:a16="http://schemas.microsoft.com/office/drawing/2014/main" id="{EA5BE4D5-2B4B-4C99-94C1-BC34A54EC6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 l="13188" t="18755" r="14229" b="14903"/>
          <a:stretch>
            <a:fillRect/>
          </a:stretch>
        </p:blipFill>
        <p:spPr bwMode="auto">
          <a:xfrm>
            <a:off x="311150" y="541605"/>
            <a:ext cx="8526463" cy="29331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95013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C3EC19-BBF4-43D3-A455-B4371AE4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54ED29-3CD9-453C-AB01-FA79C8826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271" y="255600"/>
            <a:ext cx="8308800" cy="309600"/>
          </a:xfrm>
        </p:spPr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</a:rPr>
              <a:t>Agenda</a:t>
            </a:r>
            <a:endParaRPr lang="en-US" sz="2400" b="1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54E37D-2754-4D36-A08E-36AB27A164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599" y="1080000"/>
            <a:ext cx="8226997" cy="3560400"/>
          </a:xfrm>
        </p:spPr>
        <p:txBody>
          <a:bodyPr/>
          <a:lstStyle/>
          <a:p>
            <a:pPr marL="512763" lvl="1" indent="-342900"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Short presentation of Spider tool</a:t>
            </a:r>
          </a:p>
          <a:p>
            <a:pPr marL="512763" lvl="1" indent="-342900"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Apache POI (about)</a:t>
            </a:r>
          </a:p>
          <a:p>
            <a:pPr marL="512763" lvl="1" indent="-342900"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Apache POI setup</a:t>
            </a:r>
          </a:p>
          <a:p>
            <a:pPr marL="512763" lvl="1" indent="-342900">
              <a:buFont typeface="+mj-lt"/>
              <a:buAutoNum type="arabicPeriod"/>
            </a:pPr>
            <a:r>
              <a:rPr lang="en-US" b="1" dirty="0">
                <a:solidFill>
                  <a:srgbClr val="00B050"/>
                </a:solidFill>
              </a:rPr>
              <a:t>Apache POI API (simplified)</a:t>
            </a:r>
          </a:p>
          <a:p>
            <a:pPr marL="512763" lvl="1" indent="-342900">
              <a:buFont typeface="+mj-lt"/>
              <a:buAutoNum type="arabicPeriod"/>
            </a:pPr>
            <a:r>
              <a:rPr lang="en-GB" b="1" dirty="0">
                <a:solidFill>
                  <a:srgbClr val="00B050"/>
                </a:solidFill>
              </a:rPr>
              <a:t>Reading XLS files</a:t>
            </a:r>
          </a:p>
          <a:p>
            <a:pPr marL="512763" lvl="1" indent="-342900">
              <a:buFont typeface="+mj-lt"/>
              <a:buAutoNum type="arabicPeriod"/>
            </a:pPr>
            <a:r>
              <a:rPr lang="en-GB" b="1" dirty="0">
                <a:solidFill>
                  <a:srgbClr val="00B050"/>
                </a:solidFill>
              </a:rPr>
              <a:t>Writing XLS files</a:t>
            </a:r>
          </a:p>
          <a:p>
            <a:pPr marL="512763" lvl="1" indent="-342900">
              <a:buFont typeface="+mj-lt"/>
              <a:buAutoNum type="arabicPeriod"/>
            </a:pPr>
            <a:r>
              <a:rPr lang="en-GB" b="1" dirty="0">
                <a:solidFill>
                  <a:srgbClr val="00B050"/>
                </a:solidFill>
              </a:rPr>
              <a:t>Advanced features</a:t>
            </a:r>
          </a:p>
          <a:p>
            <a:pPr marL="512763" lvl="1" indent="-342900">
              <a:buFont typeface="+mj-lt"/>
              <a:buAutoNum type="arabicPeriod"/>
            </a:pPr>
            <a:r>
              <a:rPr lang="en-GB" b="1" dirty="0">
                <a:solidFill>
                  <a:srgbClr val="00B050"/>
                </a:solidFill>
              </a:rPr>
              <a:t>Useful links</a:t>
            </a:r>
          </a:p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endParaRPr lang="en-US" sz="1000" dirty="0">
              <a:solidFill>
                <a:srgbClr val="001135"/>
              </a:solidFill>
              <a:latin typeface="Nokia Pure Text Light" panose="020B0403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DFF836-1831-47C1-8A7B-F5FBDD2FD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44596" y="1080000"/>
            <a:ext cx="81804" cy="3560400"/>
          </a:xfrm>
        </p:spPr>
        <p:txBody>
          <a:bodyPr/>
          <a:lstStyle/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r>
              <a:rPr lang="en-GB" sz="1000" dirty="0">
                <a:solidFill>
                  <a:srgbClr val="001135"/>
                </a:solidFill>
              </a:rPr>
              <a:t> 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7D4F865-119B-473D-8ABC-DE3AA0307F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04000" y="4816800"/>
            <a:ext cx="4536000" cy="122400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07752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0C22F1-845D-4A27-8F8E-145C5C7CAA2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 altLang="en-US" dirty="0">
                <a:latin typeface="Tahoma" panose="020B0604030504040204" pitchFamily="34" charset="0"/>
              </a:rPr>
              <a:t>E2E Multi-technology Network Architecture Tool – SPIDER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637D16-1C76-4351-B91E-D5A0722634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600" y="671333"/>
            <a:ext cx="8627926" cy="399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3894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675DE7-DB52-48AF-9B01-724EE0F8BB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17600" y="280800"/>
            <a:ext cx="8308800" cy="569442"/>
          </a:xfrm>
        </p:spPr>
        <p:txBody>
          <a:bodyPr/>
          <a:lstStyle/>
          <a:p>
            <a:r>
              <a:rPr lang="en-US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</a:rPr>
              <a:t>Main Features </a:t>
            </a:r>
            <a:br>
              <a:rPr lang="en-US" altLang="en-US" b="1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</a:rPr>
            </a:br>
            <a:r>
              <a:rPr lang="en-US" alt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</a:rPr>
              <a:t>What</a:t>
            </a:r>
            <a:r>
              <a:rPr lang="en-GB" altLang="en-US" dirty="0">
                <a:solidFill>
                  <a:schemeClr val="tx2">
                    <a:lumMod val="75000"/>
                    <a:lumOff val="25000"/>
                  </a:schemeClr>
                </a:solidFill>
                <a:latin typeface="Tahoma" panose="020B0604030504040204" pitchFamily="34" charset="0"/>
              </a:rPr>
              <a:t> you can do with SPIDER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6C6385C-0CD7-4607-B633-4D545582E4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2197" y="850242"/>
            <a:ext cx="6661052" cy="3872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471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C3EC19-BBF4-43D3-A455-B4371AE4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54ED29-3CD9-453C-AB01-FA79C8826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271" y="255600"/>
            <a:ext cx="8308800" cy="309600"/>
          </a:xfrm>
        </p:spPr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</a:rPr>
              <a:t>Apache POI</a:t>
            </a:r>
            <a:br>
              <a:rPr lang="en-US" sz="2400" b="1" dirty="0">
                <a:solidFill>
                  <a:srgbClr val="0070C0"/>
                </a:solidFill>
              </a:rPr>
            </a:br>
            <a:r>
              <a:rPr lang="en-US" sz="2400" b="1" dirty="0">
                <a:solidFill>
                  <a:srgbClr val="0070C0"/>
                </a:solidFill>
              </a:rPr>
              <a:t>Java API for Microsoft Documents</a:t>
            </a:r>
            <a:endParaRPr lang="en-US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54E37D-2754-4D36-A08E-36AB27A164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599" y="1080000"/>
            <a:ext cx="8226997" cy="3560400"/>
          </a:xfrm>
        </p:spPr>
        <p:txBody>
          <a:bodyPr/>
          <a:lstStyle/>
          <a:p>
            <a:pPr marL="5161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Apache POI </a:t>
            </a:r>
            <a:r>
              <a:rPr lang="en-US" dirty="0"/>
              <a:t>is an open source library developed and distributed by </a:t>
            </a:r>
            <a:r>
              <a:rPr lang="en-US" dirty="0">
                <a:hlinkClick r:id="rId2" tooltip="Apache Software Foundation"/>
              </a:rPr>
              <a:t>Apache Software Foundation</a:t>
            </a:r>
            <a:r>
              <a:rPr lang="en-US" dirty="0"/>
              <a:t>, which allows programmers to create, read/write or modify files in </a:t>
            </a:r>
            <a:r>
              <a:rPr lang="en-US" dirty="0">
                <a:solidFill>
                  <a:srgbClr val="0070C0"/>
                </a:solidFill>
              </a:rPr>
              <a:t>Microsoft Office </a:t>
            </a:r>
            <a:r>
              <a:rPr lang="en-US" dirty="0"/>
              <a:t>formats, such as </a:t>
            </a:r>
            <a:r>
              <a:rPr lang="en-US" dirty="0">
                <a:solidFill>
                  <a:srgbClr val="0070C0"/>
                </a:solidFill>
              </a:rPr>
              <a:t>Word</a:t>
            </a:r>
            <a:r>
              <a:rPr lang="en-US" dirty="0"/>
              <a:t>, </a:t>
            </a:r>
            <a:r>
              <a:rPr lang="en-US" dirty="0">
                <a:solidFill>
                  <a:srgbClr val="0070C0"/>
                </a:solidFill>
              </a:rPr>
              <a:t>PowerPoint</a:t>
            </a:r>
            <a:r>
              <a:rPr lang="en-US" dirty="0"/>
              <a:t> and </a:t>
            </a:r>
            <a:r>
              <a:rPr lang="en-US" dirty="0">
                <a:solidFill>
                  <a:srgbClr val="0070C0"/>
                </a:solidFill>
              </a:rPr>
              <a:t>Excel, </a:t>
            </a:r>
            <a:r>
              <a:rPr lang="en-US" dirty="0"/>
              <a:t>using </a:t>
            </a:r>
            <a:r>
              <a:rPr lang="en-US" dirty="0">
                <a:solidFill>
                  <a:srgbClr val="0070C0"/>
                </a:solidFill>
              </a:rPr>
              <a:t>Java </a:t>
            </a:r>
            <a:r>
              <a:rPr lang="en-US" dirty="0"/>
              <a:t>code </a:t>
            </a:r>
          </a:p>
          <a:p>
            <a:pPr marL="516150" lvl="1" indent="-285750">
              <a:buFont typeface="Wingdings" panose="05000000000000000000" pitchFamily="2" charset="2"/>
              <a:buChar char="Ø"/>
            </a:pPr>
            <a:r>
              <a:rPr lang="en-US" b="1" dirty="0"/>
              <a:t>Apache POI</a:t>
            </a:r>
            <a:r>
              <a:rPr lang="en-US" dirty="0"/>
              <a:t> supports the </a:t>
            </a:r>
            <a:r>
              <a:rPr lang="en-US" dirty="0">
                <a:hlinkClick r:id="rId3" tooltip="Office Open XML"/>
              </a:rPr>
              <a:t>Office Open XML</a:t>
            </a:r>
            <a:r>
              <a:rPr lang="en-US" dirty="0"/>
              <a:t> file formats since version 3.5</a:t>
            </a:r>
          </a:p>
          <a:p>
            <a:pPr marL="516150" lvl="1" indent="-285750">
              <a:buFont typeface="Wingdings" panose="05000000000000000000" pitchFamily="2" charset="2"/>
              <a:buChar char="Ø"/>
            </a:pPr>
            <a:r>
              <a:rPr lang="en-US" dirty="0"/>
              <a:t>The list of most important API components is given below:</a:t>
            </a:r>
          </a:p>
          <a:p>
            <a:pPr marL="748350" lvl="2" indent="-285750">
              <a:buFont typeface="Arial" panose="020B0604020202020204" pitchFamily="34" charset="0"/>
              <a:buChar char="•"/>
            </a:pPr>
            <a:r>
              <a:rPr lang="en-US" dirty="0"/>
              <a:t>HSSF(Horrible Spreadsheet Format) used to access Excel '97(-2007)(.</a:t>
            </a:r>
            <a:r>
              <a:rPr lang="en-US" dirty="0" err="1"/>
              <a:t>xls</a:t>
            </a:r>
            <a:r>
              <a:rPr lang="en-US" dirty="0"/>
              <a:t>) file format</a:t>
            </a:r>
          </a:p>
          <a:p>
            <a:pPr marL="748350" lvl="2" indent="-285750">
              <a:buFont typeface="Arial" panose="020B0604020202020204" pitchFamily="34" charset="0"/>
              <a:buChar char="•"/>
            </a:pPr>
            <a:r>
              <a:rPr lang="en-US" dirty="0"/>
              <a:t>XSSF(XML Spreadsheet Format) used to access Excel 2007 OOXML (.</a:t>
            </a:r>
            <a:r>
              <a:rPr lang="en-US" dirty="0" err="1"/>
              <a:t>xlsx</a:t>
            </a:r>
            <a:r>
              <a:rPr lang="en-US" dirty="0"/>
              <a:t>) file format</a:t>
            </a:r>
          </a:p>
          <a:p>
            <a:pPr marL="748350" lvl="2" indent="-285750">
              <a:buFont typeface="Arial" panose="020B0604020202020204" pitchFamily="34" charset="0"/>
              <a:buChar char="•"/>
            </a:pPr>
            <a:r>
              <a:rPr lang="en-US" dirty="0"/>
              <a:t>XWPF(XML Word Processor Format) used to access </a:t>
            </a:r>
            <a:r>
              <a:rPr lang="en-US" dirty="0" err="1"/>
              <a:t>docx</a:t>
            </a:r>
            <a:r>
              <a:rPr lang="en-US" dirty="0"/>
              <a:t> extension files of MS-Word</a:t>
            </a:r>
          </a:p>
          <a:p>
            <a:pPr marL="748350" lvl="2" indent="-285750">
              <a:buFont typeface="Arial" panose="020B0604020202020204" pitchFamily="34" charset="0"/>
              <a:buChar char="•"/>
            </a:pPr>
            <a:r>
              <a:rPr lang="en-US" dirty="0"/>
              <a:t>HSLF(Horrible Slide Layout Format) contains classes and methods for accessing PowerPoint presentations (.ppt) file format</a:t>
            </a:r>
          </a:p>
          <a:p>
            <a:pPr marL="516150" lvl="1" indent="-285750">
              <a:buFont typeface="Wingdings" panose="05000000000000000000" pitchFamily="2" charset="2"/>
              <a:buChar char="Ø"/>
            </a:pPr>
            <a:r>
              <a:rPr lang="en-US" dirty="0"/>
              <a:t>HSSF and XSSF provide ways to create, modify, read and write Excel spreadsheets. They provide</a:t>
            </a:r>
          </a:p>
          <a:p>
            <a:pPr marL="748350" lvl="2" indent="-285750">
              <a:buFont typeface="Arial" panose="020B0604020202020204" pitchFamily="34" charset="0"/>
              <a:buChar char="•"/>
            </a:pPr>
            <a:r>
              <a:rPr lang="en-US" dirty="0"/>
              <a:t>low level structures for those with special needs</a:t>
            </a:r>
          </a:p>
          <a:p>
            <a:pPr marL="748350" lvl="2" indent="-285750">
              <a:buFont typeface="Arial" panose="020B0604020202020204" pitchFamily="34" charset="0"/>
              <a:buChar char="•"/>
            </a:pPr>
            <a:r>
              <a:rPr lang="en-US" dirty="0"/>
              <a:t>an </a:t>
            </a:r>
            <a:r>
              <a:rPr lang="en-US" dirty="0" err="1"/>
              <a:t>eventmodel</a:t>
            </a:r>
            <a:r>
              <a:rPr lang="en-US" dirty="0"/>
              <a:t> API for efficient read-only access</a:t>
            </a:r>
          </a:p>
          <a:p>
            <a:pPr marL="748350" lvl="2" indent="-285750">
              <a:buFont typeface="Arial" panose="020B0604020202020204" pitchFamily="34" charset="0"/>
              <a:buChar char="•"/>
            </a:pPr>
            <a:r>
              <a:rPr lang="en-US" dirty="0"/>
              <a:t>a full </a:t>
            </a:r>
            <a:r>
              <a:rPr lang="en-US" dirty="0" err="1"/>
              <a:t>usermodel</a:t>
            </a:r>
            <a:r>
              <a:rPr lang="en-US" dirty="0"/>
              <a:t> API for creating, reading and modifying XLS/XLSX files</a:t>
            </a:r>
          </a:p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endParaRPr lang="en-US" sz="1000" dirty="0">
              <a:solidFill>
                <a:srgbClr val="001135"/>
              </a:solidFill>
              <a:latin typeface="Nokia Pure Text Light" panose="020B0403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DFF836-1831-47C1-8A7B-F5FBDD2FD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44596" y="1080000"/>
            <a:ext cx="81804" cy="3560400"/>
          </a:xfrm>
        </p:spPr>
        <p:txBody>
          <a:bodyPr/>
          <a:lstStyle/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r>
              <a:rPr lang="en-GB" sz="1000" dirty="0">
                <a:solidFill>
                  <a:srgbClr val="001135"/>
                </a:solidFill>
              </a:rPr>
              <a:t> 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7D4F865-119B-473D-8ABC-DE3AA0307F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04000" y="4816800"/>
            <a:ext cx="4536000" cy="122400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277945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C3EC19-BBF4-43D3-A455-B4371AE4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54ED29-3CD9-453C-AB01-FA79C8826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271" y="255600"/>
            <a:ext cx="8308800" cy="309600"/>
          </a:xfrm>
        </p:spPr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</a:rPr>
              <a:t>Apache POI setup</a:t>
            </a:r>
            <a:endParaRPr lang="en-US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54E37D-2754-4D36-A08E-36AB27A164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599" y="1080000"/>
            <a:ext cx="8226997" cy="3560400"/>
          </a:xfrm>
        </p:spPr>
        <p:txBody>
          <a:bodyPr/>
          <a:lstStyle/>
          <a:p>
            <a:pPr lvl="1"/>
            <a:r>
              <a:rPr lang="en-US" dirty="0"/>
              <a:t>Download from </a:t>
            </a:r>
            <a:r>
              <a:rPr lang="en-US" dirty="0">
                <a:hlinkClick r:id="rId2"/>
              </a:rPr>
              <a:t>http://poi.apache.org/download.html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Class path must contain</a:t>
            </a:r>
          </a:p>
          <a:p>
            <a:pPr lvl="2"/>
            <a:r>
              <a:rPr lang="en-US" sz="1400" dirty="0"/>
              <a:t>commons-logging-xx.jar, commons-codec-xx.jar, log4j-xx.jar, junit-xx.jar (for testing)</a:t>
            </a:r>
          </a:p>
          <a:p>
            <a:pPr lvl="2"/>
            <a:r>
              <a:rPr lang="en-US" sz="1400" b="1" dirty="0"/>
              <a:t>poi-$version-YYYYDDMM.jar, poi-ooxml-$version-YYYYDDMM.jar</a:t>
            </a:r>
          </a:p>
          <a:p>
            <a:pPr lvl="2"/>
            <a:r>
              <a:rPr lang="en-US" sz="1400" b="1" dirty="0"/>
              <a:t>poi-</a:t>
            </a:r>
            <a:r>
              <a:rPr lang="en-US" sz="1400" b="1" dirty="0" err="1"/>
              <a:t>ooxml</a:t>
            </a:r>
            <a:r>
              <a:rPr lang="en-US" sz="1400" b="1" dirty="0"/>
              <a:t>-schemas-$version-YYYYDDMM.jar, xmlbeans.jar, dom4j.jar </a:t>
            </a:r>
            <a:r>
              <a:rPr lang="en-US" sz="1400" dirty="0"/>
              <a:t>(for XSSF)</a:t>
            </a:r>
            <a:endParaRPr lang="en-US" sz="1400" b="1" dirty="0"/>
          </a:p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endParaRPr lang="en-US" sz="1000" dirty="0">
              <a:solidFill>
                <a:srgbClr val="001135"/>
              </a:solidFill>
              <a:latin typeface="Nokia Pure Text Light" panose="020B0403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DFF836-1831-47C1-8A7B-F5FBDD2FD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44596" y="1080000"/>
            <a:ext cx="81804" cy="3560400"/>
          </a:xfrm>
        </p:spPr>
        <p:txBody>
          <a:bodyPr/>
          <a:lstStyle/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r>
              <a:rPr lang="en-GB" sz="1000" dirty="0">
                <a:solidFill>
                  <a:srgbClr val="001135"/>
                </a:solidFill>
              </a:rPr>
              <a:t> 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7D4F865-119B-473D-8ABC-DE3AA0307F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04000" y="4816800"/>
            <a:ext cx="4536000" cy="122400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4505151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C3EC19-BBF4-43D3-A455-B4371AE4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54ED29-3CD9-453C-AB01-FA79C8826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271" y="255600"/>
            <a:ext cx="8308800" cy="309600"/>
          </a:xfrm>
        </p:spPr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</a:rPr>
              <a:t>Apache POI API (simplified)</a:t>
            </a:r>
            <a:endParaRPr lang="en-US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54E37D-2754-4D36-A08E-36AB27A164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599" y="1080000"/>
            <a:ext cx="8226997" cy="3560400"/>
          </a:xfrm>
        </p:spPr>
        <p:txBody>
          <a:bodyPr/>
          <a:lstStyle/>
          <a:p>
            <a:r>
              <a:rPr lang="en-US" sz="3200" dirty="0"/>
              <a:t> </a:t>
            </a:r>
            <a:r>
              <a:rPr lang="en-US" b="1" dirty="0"/>
              <a:t>package </a:t>
            </a:r>
            <a:r>
              <a:rPr lang="en-US" b="1" dirty="0" err="1">
                <a:solidFill>
                  <a:srgbClr val="0070C0"/>
                </a:solidFill>
              </a:rPr>
              <a:t>org.apache.poi.ss.usermodel</a:t>
            </a:r>
            <a:r>
              <a:rPr lang="en-US" b="1" dirty="0"/>
              <a:t>; </a:t>
            </a:r>
          </a:p>
          <a:p>
            <a:pPr lvl="1"/>
            <a:r>
              <a:rPr lang="en-US" b="1" dirty="0"/>
              <a:t>Workbook </a:t>
            </a:r>
            <a:r>
              <a:rPr lang="en-US" dirty="0"/>
              <a:t>– interface representing an Excel workbook (file)</a:t>
            </a:r>
          </a:p>
          <a:p>
            <a:pPr lvl="1"/>
            <a:r>
              <a:rPr lang="en-US" b="1" dirty="0"/>
              <a:t>Sheet </a:t>
            </a:r>
            <a:r>
              <a:rPr lang="en-US" dirty="0"/>
              <a:t>– interface representing an Excel sheet</a:t>
            </a:r>
            <a:endParaRPr lang="en-US" b="1" dirty="0"/>
          </a:p>
          <a:p>
            <a:pPr lvl="1"/>
            <a:r>
              <a:rPr lang="en-US" b="1" dirty="0"/>
              <a:t>Row</a:t>
            </a:r>
            <a:r>
              <a:rPr lang="en-US" dirty="0"/>
              <a:t> – interface representing a row in a sheet</a:t>
            </a:r>
            <a:endParaRPr lang="en-US" b="1" dirty="0"/>
          </a:p>
          <a:p>
            <a:pPr lvl="1"/>
            <a:r>
              <a:rPr lang="en-US" b="1" dirty="0"/>
              <a:t>Cell</a:t>
            </a:r>
            <a:r>
              <a:rPr lang="en-US" dirty="0"/>
              <a:t> – interface representing a cell in a sheet</a:t>
            </a:r>
          </a:p>
          <a:p>
            <a:pPr lvl="1"/>
            <a:r>
              <a:rPr lang="en-US" b="1" dirty="0" err="1"/>
              <a:t>FormulaEvaluator</a:t>
            </a:r>
            <a:r>
              <a:rPr lang="en-US" dirty="0"/>
              <a:t> – interface used to evaluate formula cells</a:t>
            </a:r>
          </a:p>
          <a:p>
            <a:pPr lvl="1"/>
            <a:r>
              <a:rPr lang="en-US" b="1" dirty="0" err="1"/>
              <a:t>CellValue</a:t>
            </a:r>
            <a:r>
              <a:rPr lang="en-US" dirty="0"/>
              <a:t> – final class representing the 'data view' of a cell</a:t>
            </a:r>
          </a:p>
          <a:p>
            <a:pPr lvl="1"/>
            <a:r>
              <a:rPr lang="en-US" b="1" dirty="0" err="1"/>
              <a:t>CellStyle</a:t>
            </a:r>
            <a:r>
              <a:rPr lang="en-US" dirty="0"/>
              <a:t> – interface representing a style for a cell</a:t>
            </a:r>
          </a:p>
          <a:p>
            <a:pPr marL="0" lvl="1"/>
            <a:r>
              <a:rPr lang="en-US" sz="1600" b="1" dirty="0"/>
              <a:t>  package </a:t>
            </a:r>
            <a:r>
              <a:rPr lang="en-US" sz="1600" b="1" dirty="0" err="1">
                <a:solidFill>
                  <a:srgbClr val="0070C0"/>
                </a:solidFill>
              </a:rPr>
              <a:t>org.apache.poi.ss.util</a:t>
            </a:r>
            <a:r>
              <a:rPr lang="en-US" sz="1600" b="1" dirty="0"/>
              <a:t>;</a:t>
            </a:r>
          </a:p>
          <a:p>
            <a:pPr lvl="1"/>
            <a:r>
              <a:rPr lang="en-US" b="1" dirty="0" err="1"/>
              <a:t>CellUtil</a:t>
            </a:r>
            <a:r>
              <a:rPr lang="en-US" dirty="0"/>
              <a:t> – utility class</a:t>
            </a:r>
          </a:p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endParaRPr lang="en-US" sz="1000" dirty="0">
              <a:solidFill>
                <a:srgbClr val="001135"/>
              </a:solidFill>
              <a:latin typeface="Nokia Pure Text Light" panose="020B0403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DFF836-1831-47C1-8A7B-F5FBDD2FD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H="1">
            <a:off x="8726399" y="1080000"/>
            <a:ext cx="45719" cy="3560400"/>
          </a:xfrm>
        </p:spPr>
        <p:txBody>
          <a:bodyPr/>
          <a:lstStyle/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r>
              <a:rPr lang="en-GB" sz="1000" dirty="0">
                <a:solidFill>
                  <a:srgbClr val="001135"/>
                </a:solidFill>
              </a:rPr>
              <a:t> 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7D4F865-119B-473D-8ABC-DE3AA0307F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04000" y="4816800"/>
            <a:ext cx="4536000" cy="122400"/>
          </a:xfrm>
        </p:spPr>
        <p:txBody>
          <a:bodyPr/>
          <a:lstStyle/>
          <a:p>
            <a:pPr algn="ctr"/>
            <a:r>
              <a:rPr lang="en-GB" dirty="0">
                <a:cs typeface="Arial" panose="020B0604020202020204" pitchFamily="34" charset="0"/>
              </a:rPr>
              <a:t>  </a:t>
            </a: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761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C3EC19-BBF4-43D3-A455-B4371AE4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54ED29-3CD9-453C-AB01-FA79C8826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271" y="255600"/>
            <a:ext cx="8308800" cy="309600"/>
          </a:xfrm>
        </p:spPr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</a:rPr>
              <a:t>Reading XLS files</a:t>
            </a:r>
            <a:endParaRPr lang="en-US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54E37D-2754-4D36-A08E-36AB27A164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599" y="1080000"/>
            <a:ext cx="8226997" cy="3560400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create a Workbook and formula evaluator</a:t>
            </a:r>
          </a:p>
          <a:p>
            <a:pPr lvl="2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Workbook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workbook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WorkbookFactory.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create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i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i="1" dirty="0">
                <a:solidFill>
                  <a:srgbClr val="000000"/>
                </a:solidFill>
                <a:latin typeface="Consolas"/>
              </a:rPr>
              <a:t> File(</a:t>
            </a:r>
            <a:r>
              <a:rPr lang="en-US" b="1" i="1" dirty="0">
                <a:solidFill>
                  <a:srgbClr val="2A00FF"/>
                </a:solidFill>
                <a:latin typeface="Consolas"/>
              </a:rPr>
              <a:t>"test3.xls"</a:t>
            </a:r>
            <a:r>
              <a:rPr lang="en-US" b="1" i="1" dirty="0">
                <a:solidFill>
                  <a:srgbClr val="000000"/>
                </a:solidFill>
                <a:latin typeface="Consolas"/>
              </a:rPr>
              <a:t>));</a:t>
            </a:r>
          </a:p>
          <a:p>
            <a:pPr lvl="2"/>
            <a:r>
              <a:rPr lang="en-US" dirty="0" err="1">
                <a:solidFill>
                  <a:srgbClr val="000000"/>
                </a:solidFill>
                <a:latin typeface="Consolas"/>
              </a:rPr>
              <a:t>FormulaEvaluator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evaluator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workbook.getCreationHelper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().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createFormulaEvaluator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  <a:endParaRPr lang="en-US" dirty="0"/>
          </a:p>
          <a:p>
            <a:pPr lvl="1"/>
            <a:r>
              <a:rPr lang="en-US" b="1" dirty="0"/>
              <a:t>retrieve a sheet to work with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7F0055"/>
                </a:solidFill>
                <a:latin typeface="Consolas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numberOfSheets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workbook.getNumberOfSheets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  <a:endParaRPr lang="en-US" dirty="0"/>
          </a:p>
          <a:p>
            <a:pPr lvl="2"/>
            <a:r>
              <a:rPr lang="en-US" dirty="0">
                <a:solidFill>
                  <a:srgbClr val="000000"/>
                </a:solidFill>
                <a:latin typeface="Consolas"/>
              </a:rPr>
              <a:t>Sheet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sheet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workbook.getSheetAt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(0);</a:t>
            </a:r>
            <a:endParaRPr lang="en-US" dirty="0"/>
          </a:p>
          <a:p>
            <a:pPr lvl="1"/>
            <a:r>
              <a:rPr lang="en-US" b="1" dirty="0"/>
              <a:t>obtain a row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sheet.getFirstRowNum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sheet.getLastRowNum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nsolas"/>
              </a:rPr>
              <a:t>Row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row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sheet.getRow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rowN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</a:t>
            </a:r>
            <a:endParaRPr lang="en-US" dirty="0"/>
          </a:p>
          <a:p>
            <a:pPr lvl="1"/>
            <a:r>
              <a:rPr lang="en-US" b="1" dirty="0"/>
              <a:t>select a cell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row.getFirstCellNum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row.getLastCellNum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pPr lvl="2"/>
            <a:r>
              <a:rPr lang="en-US" dirty="0">
                <a:solidFill>
                  <a:srgbClr val="000000"/>
                </a:solidFill>
                <a:latin typeface="Consolas"/>
              </a:rPr>
              <a:t>Cell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cell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row.getCell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(col);</a:t>
            </a:r>
            <a:endParaRPr lang="en-US" dirty="0"/>
          </a:p>
          <a:p>
            <a:pPr lvl="1"/>
            <a:r>
              <a:rPr lang="en-US" b="1" dirty="0"/>
              <a:t>read data from cell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CellValue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cellValue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evaluator.evaluate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(cell);</a:t>
            </a:r>
          </a:p>
          <a:p>
            <a:pPr lvl="2"/>
            <a:r>
              <a:rPr lang="en-US" dirty="0" err="1">
                <a:solidFill>
                  <a:srgbClr val="000000"/>
                </a:solidFill>
                <a:latin typeface="Consolas"/>
              </a:rPr>
              <a:t>cellValue.getCellType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cellValue.getNumberValue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(),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cellValue.getStringValue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</a:t>
            </a:r>
          </a:p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endParaRPr lang="en-US" sz="1000" dirty="0">
              <a:solidFill>
                <a:srgbClr val="001135"/>
              </a:solidFill>
              <a:latin typeface="Nokia Pure Text Light" panose="020B0403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DFF836-1831-47C1-8A7B-F5FBDD2FD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H="1">
            <a:off x="8726399" y="1080000"/>
            <a:ext cx="45719" cy="3560400"/>
          </a:xfrm>
        </p:spPr>
        <p:txBody>
          <a:bodyPr/>
          <a:lstStyle/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r>
              <a:rPr lang="en-GB" sz="1000" dirty="0">
                <a:solidFill>
                  <a:srgbClr val="001135"/>
                </a:solidFill>
              </a:rPr>
              <a:t> 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7D4F865-119B-473D-8ABC-DE3AA0307F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163323" y="4820400"/>
            <a:ext cx="4536000" cy="122400"/>
          </a:xfrm>
        </p:spPr>
        <p:txBody>
          <a:bodyPr/>
          <a:lstStyle/>
          <a:p>
            <a:pPr algn="ctr"/>
            <a:r>
              <a:rPr lang="en-GB" dirty="0">
                <a:cs typeface="Arial" panose="020B0604020202020204" pitchFamily="34" charset="0"/>
              </a:rPr>
              <a:t>  </a:t>
            </a: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68758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C3EC19-BBF4-43D3-A455-B4371AE4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54ED29-3CD9-453C-AB01-FA79C8826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271" y="255600"/>
            <a:ext cx="8308800" cy="309600"/>
          </a:xfrm>
        </p:spPr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</a:rPr>
              <a:t>Writing XLS files</a:t>
            </a:r>
            <a:endParaRPr lang="en-US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54E37D-2754-4D36-A08E-36AB27A164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599" y="1080000"/>
            <a:ext cx="8226997" cy="3560400"/>
          </a:xfrm>
        </p:spPr>
        <p:txBody>
          <a:bodyPr>
            <a:normAutofit/>
          </a:bodyPr>
          <a:lstStyle/>
          <a:p>
            <a:pPr lvl="1"/>
            <a:r>
              <a:rPr lang="en-US" b="1" dirty="0"/>
              <a:t>create a Workbook</a:t>
            </a:r>
          </a:p>
          <a:p>
            <a:pPr lvl="2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Workbook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workbook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HSSFWorkbook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(); //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XSSFWorkbook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();</a:t>
            </a:r>
            <a:endParaRPr lang="en-US" b="1" i="1" dirty="0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 b="1" dirty="0"/>
              <a:t>create a sheet to work with</a:t>
            </a:r>
          </a:p>
          <a:p>
            <a:pPr lvl="2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Sheet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sheet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workbook.createSheet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/>
              </a:rPr>
              <a:t>“</a:t>
            </a:r>
            <a:r>
              <a:rPr lang="en-US" dirty="0" err="1">
                <a:solidFill>
                  <a:srgbClr val="2A00FF"/>
                </a:solidFill>
                <a:latin typeface="Consolas"/>
              </a:rPr>
              <a:t>Practica</a:t>
            </a:r>
            <a:r>
              <a:rPr lang="en-US" dirty="0">
                <a:solidFill>
                  <a:srgbClr val="2A00FF"/>
                </a:solidFill>
                <a:latin typeface="Consolas"/>
              </a:rPr>
              <a:t>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);</a:t>
            </a:r>
            <a:endParaRPr lang="en-US" dirty="0"/>
          </a:p>
          <a:p>
            <a:pPr lvl="1"/>
            <a:r>
              <a:rPr lang="en-US" b="1" dirty="0"/>
              <a:t>create a row</a:t>
            </a:r>
          </a:p>
          <a:p>
            <a:pPr lvl="2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Row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row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sheet.createRow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(0);</a:t>
            </a:r>
            <a:endParaRPr lang="en-US" dirty="0"/>
          </a:p>
          <a:p>
            <a:pPr lvl="1"/>
            <a:r>
              <a:rPr lang="en-US" b="1" dirty="0"/>
              <a:t>create a cell</a:t>
            </a:r>
          </a:p>
          <a:p>
            <a:pPr lvl="2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Cell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cell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row.createCell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(0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);</a:t>
            </a:r>
            <a:endParaRPr lang="en-US" dirty="0"/>
          </a:p>
          <a:p>
            <a:pPr lvl="1"/>
            <a:r>
              <a:rPr lang="en-US" b="1" dirty="0"/>
              <a:t>write data into cell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cell.setCellValue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(2);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cell.getCellValue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(“text”);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cell.setCellFormula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>
                <a:solidFill>
                  <a:srgbClr val="2A00FF"/>
                </a:solidFill>
                <a:latin typeface="Consolas"/>
              </a:rPr>
              <a:t>"SUM(A1:B1)"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lvl="1"/>
            <a:r>
              <a:rPr lang="en-US" b="1" dirty="0"/>
              <a:t>write workbook in a file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workbook.write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b="1" dirty="0" err="1">
                <a:solidFill>
                  <a:srgbClr val="000000"/>
                </a:solidFill>
                <a:latin typeface="Consolas"/>
              </a:rPr>
              <a:t>FileOutputStream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File(</a:t>
            </a:r>
            <a:r>
              <a:rPr lang="en-US" b="1" dirty="0">
                <a:solidFill>
                  <a:srgbClr val="2A00FF"/>
                </a:solidFill>
                <a:latin typeface="Consolas"/>
              </a:rPr>
              <a:t>"test_out.xls"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)));</a:t>
            </a:r>
            <a:endParaRPr lang="en-US" dirty="0">
              <a:solidFill>
                <a:srgbClr val="000000"/>
              </a:solidFill>
              <a:latin typeface="Consolas"/>
            </a:endParaRPr>
          </a:p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endParaRPr lang="en-US" sz="1000" dirty="0">
              <a:solidFill>
                <a:srgbClr val="001135"/>
              </a:solidFill>
              <a:latin typeface="Nokia Pure Text Light" panose="020B0403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DFF836-1831-47C1-8A7B-F5FBDD2FD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H="1">
            <a:off x="8726399" y="1080000"/>
            <a:ext cx="45719" cy="3560400"/>
          </a:xfrm>
        </p:spPr>
        <p:txBody>
          <a:bodyPr/>
          <a:lstStyle/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r>
              <a:rPr lang="en-GB" sz="1000" dirty="0">
                <a:solidFill>
                  <a:srgbClr val="001135"/>
                </a:solidFill>
              </a:rPr>
              <a:t> 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7D4F865-119B-473D-8ABC-DE3AA0307F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04000" y="4816800"/>
            <a:ext cx="4536000" cy="122400"/>
          </a:xfrm>
        </p:spPr>
        <p:txBody>
          <a:bodyPr/>
          <a:lstStyle/>
          <a:p>
            <a:pPr algn="ctr"/>
            <a:r>
              <a:rPr lang="en-GB" dirty="0">
                <a:cs typeface="Arial" panose="020B0604020202020204" pitchFamily="34" charset="0"/>
              </a:rPr>
              <a:t>  </a:t>
            </a: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0549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C3EC19-BBF4-43D3-A455-B4371AE4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54ED29-3CD9-453C-AB01-FA79C8826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271" y="255600"/>
            <a:ext cx="8308800" cy="309600"/>
          </a:xfrm>
        </p:spPr>
        <p:txBody>
          <a:bodyPr/>
          <a:lstStyle/>
          <a:p>
            <a:r>
              <a:rPr lang="en-US" sz="2400" b="1" dirty="0">
                <a:solidFill>
                  <a:srgbClr val="0070C0"/>
                </a:solidFill>
              </a:rPr>
              <a:t>Advanced features</a:t>
            </a:r>
            <a:endParaRPr lang="en-US" sz="240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54E37D-2754-4D36-A08E-36AB27A164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599" y="1080000"/>
            <a:ext cx="8226997" cy="3560400"/>
          </a:xfrm>
        </p:spPr>
        <p:txBody>
          <a:bodyPr/>
          <a:lstStyle/>
          <a:p>
            <a:pPr lvl="1"/>
            <a:r>
              <a:rPr lang="en-US" b="1" dirty="0"/>
              <a:t>using cell styles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CellStyle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cellStyle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workbook.createCellStyle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lvl="2">
              <a:spcAft>
                <a:spcPts val="0"/>
              </a:spcAft>
            </a:pPr>
            <a:r>
              <a:rPr lang="en-US" dirty="0">
                <a:solidFill>
                  <a:srgbClr val="000000"/>
                </a:solidFill>
                <a:latin typeface="Consolas"/>
              </a:rPr>
              <a:t>Font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font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workbook.createFont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cellStyle.setFont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(font);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cell.setCellStyle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cellStyle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);</a:t>
            </a:r>
          </a:p>
          <a:p>
            <a:pPr lvl="1"/>
            <a:r>
              <a:rPr lang="en-US" b="1" dirty="0"/>
              <a:t>merging cells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CellRangeAddress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range = </a:t>
            </a:r>
            <a:r>
              <a:rPr lang="en-US" b="1" dirty="0">
                <a:solidFill>
                  <a:srgbClr val="7F0055"/>
                </a:solidFill>
                <a:latin typeface="Consolas"/>
              </a:rPr>
              <a:t>new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CellRangeAddress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b="1" dirty="0">
                <a:solidFill>
                  <a:srgbClr val="2A00FF"/>
                </a:solidFill>
                <a:latin typeface="Consolas"/>
              </a:rPr>
              <a:t>row1, row2, col1, col2</a:t>
            </a:r>
            <a:r>
              <a:rPr lang="en-US" b="1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; </a:t>
            </a:r>
            <a:r>
              <a:rPr lang="en-US" dirty="0">
                <a:solidFill>
                  <a:srgbClr val="3F7F5F"/>
                </a:solidFill>
                <a:latin typeface="Consolas"/>
              </a:rPr>
              <a:t>// 0 based</a:t>
            </a:r>
            <a:endParaRPr lang="en-US" dirty="0">
              <a:solidFill>
                <a:srgbClr val="000000"/>
              </a:solidFill>
              <a:latin typeface="Consolas"/>
            </a:endParaRP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sheet.addMergedRegion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(range);</a:t>
            </a:r>
            <a:endParaRPr lang="en-US" b="1" i="1" dirty="0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 b="1" dirty="0"/>
              <a:t>adding conditional formatting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SheetConditionalFormatting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sCF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sheet.getSheetConditionalFormatting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ConditionalFormattingRule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rule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sCF.createConditionalFormattingRule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ComparisonOperator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, );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FontFormatting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fontFmt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rule.createFontFormatting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BorderFormatting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bordFmt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rule.createBorderFormatting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PatternFormatting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patternFmt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rule.createPatternFormatting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ConditionalFormattingRule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[]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cfRules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 = { rule1 };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CellRangeAddress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[] regions = {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CellRangeAddress.</a:t>
            </a:r>
            <a:r>
              <a:rPr lang="en-US" i="1" dirty="0" err="1">
                <a:solidFill>
                  <a:srgbClr val="000000"/>
                </a:solidFill>
                <a:latin typeface="Consolas"/>
              </a:rPr>
              <a:t>valueOf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i="1" dirty="0">
                <a:solidFill>
                  <a:srgbClr val="2A00FF"/>
                </a:solidFill>
                <a:latin typeface="Consolas"/>
              </a:rPr>
              <a:t>"A1:E1"</a:t>
            </a:r>
            <a:r>
              <a:rPr lang="en-US" i="1" dirty="0">
                <a:solidFill>
                  <a:srgbClr val="000000"/>
                </a:solidFill>
                <a:latin typeface="Consolas"/>
              </a:rPr>
              <a:t>) };</a:t>
            </a:r>
          </a:p>
          <a:p>
            <a:pPr lvl="2">
              <a:spcAft>
                <a:spcPts val="0"/>
              </a:spcAft>
            </a:pPr>
            <a:r>
              <a:rPr lang="en-US" dirty="0" err="1">
                <a:solidFill>
                  <a:srgbClr val="000000"/>
                </a:solidFill>
                <a:latin typeface="Consolas"/>
              </a:rPr>
              <a:t>sheet.addConditionalFormatting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(regions, 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cfRules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);</a:t>
            </a:r>
            <a:endParaRPr lang="en-US" dirty="0"/>
          </a:p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endParaRPr lang="en-US" sz="1000" dirty="0">
              <a:solidFill>
                <a:srgbClr val="001135"/>
              </a:solidFill>
              <a:latin typeface="Nokia Pure Text Light" panose="020B0403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DFF836-1831-47C1-8A7B-F5FBDD2FD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H="1">
            <a:off x="8726399" y="1080000"/>
            <a:ext cx="45719" cy="3560400"/>
          </a:xfrm>
        </p:spPr>
        <p:txBody>
          <a:bodyPr/>
          <a:lstStyle/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r>
              <a:rPr lang="en-GB" sz="1000" dirty="0">
                <a:solidFill>
                  <a:srgbClr val="001135"/>
                </a:solidFill>
              </a:rPr>
              <a:t> 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7D4F865-119B-473D-8ABC-DE3AA0307F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04000" y="4816800"/>
            <a:ext cx="4536000" cy="122400"/>
          </a:xfrm>
        </p:spPr>
        <p:txBody>
          <a:bodyPr/>
          <a:lstStyle/>
          <a:p>
            <a:pPr algn="ctr"/>
            <a:r>
              <a:rPr lang="en-GB" dirty="0">
                <a:cs typeface="Arial" panose="020B0604020202020204" pitchFamily="34" charset="0"/>
              </a:rPr>
              <a:t>   </a:t>
            </a:r>
            <a:endParaRPr 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67112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7C3EC19-BBF4-43D3-A455-B4371AE401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954ED29-3CD9-453C-AB01-FA79C88267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4271" y="255600"/>
            <a:ext cx="8308800" cy="309600"/>
          </a:xfrm>
        </p:spPr>
        <p:txBody>
          <a:bodyPr/>
          <a:lstStyle/>
          <a:p>
            <a:pPr marL="0" lvl="1" indent="0" defTabSz="914400" eaLnBrk="0" fontAlgn="base" hangingPunct="0"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lang="en-GB" sz="2400" b="1" kern="0" dirty="0">
                <a:solidFill>
                  <a:srgbClr val="0070C0"/>
                </a:solidFill>
              </a:rPr>
              <a:t>Useful links</a:t>
            </a:r>
            <a:endParaRPr lang="en-US" b="1" kern="0" dirty="0">
              <a:solidFill>
                <a:srgbClr val="404040"/>
              </a:solidFill>
              <a:latin typeface="Trebuchet MS" pitchFamily="34" charset="0"/>
            </a:endParaRP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154E37D-2754-4D36-A08E-36AB27A164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7599" y="1080000"/>
            <a:ext cx="8226997" cy="3560400"/>
          </a:xfrm>
        </p:spPr>
        <p:txBody>
          <a:bodyPr/>
          <a:lstStyle/>
          <a:p>
            <a:pPr marL="0" lvl="1" eaLnBrk="0" hangingPunct="0">
              <a:lnSpc>
                <a:spcPts val="2400"/>
              </a:lnSpc>
              <a:spcBef>
                <a:spcPts val="600"/>
              </a:spcBef>
              <a:buFont typeface="Wingdings" pitchFamily="2" charset="2"/>
              <a:buChar char="Ø"/>
            </a:pPr>
            <a:r>
              <a:rPr lang="en-US" b="1" dirty="0"/>
              <a:t>  Apache POI</a:t>
            </a:r>
            <a:endParaRPr lang="en-US" b="1" dirty="0">
              <a:hlinkClick r:id="rId2"/>
            </a:endParaRPr>
          </a:p>
          <a:p>
            <a:pPr marL="0" lvl="1" eaLnBrk="0" hangingPunct="0"/>
            <a:r>
              <a:rPr lang="en-US" u="sng" dirty="0">
                <a:hlinkClick r:id="rId3"/>
              </a:rPr>
              <a:t>http://poi.apache.org/index.html</a:t>
            </a:r>
            <a:endParaRPr lang="en-US" u="sng" dirty="0"/>
          </a:p>
          <a:p>
            <a:pPr marL="0" lvl="1" eaLnBrk="0" hangingPunct="0"/>
            <a:r>
              <a:rPr lang="en-US" u="sng" dirty="0">
                <a:hlinkClick r:id="rId4"/>
              </a:rPr>
              <a:t>http://poi.apache.org/spreadsheet/index.html</a:t>
            </a:r>
            <a:endParaRPr lang="en-US" u="sng" dirty="0"/>
          </a:p>
          <a:p>
            <a:pPr marL="0" lvl="1" eaLnBrk="0" hangingPunct="0"/>
            <a:r>
              <a:rPr lang="en-US" dirty="0">
                <a:hlinkClick r:id="rId5"/>
              </a:rPr>
              <a:t>http://poi.apache.org/spreadsheet/quick-guide.html</a:t>
            </a:r>
            <a:r>
              <a:rPr lang="en-US" dirty="0"/>
              <a:t> </a:t>
            </a:r>
          </a:p>
          <a:p>
            <a:pPr marL="0" lvl="1" eaLnBrk="0" hangingPunct="0"/>
            <a:endParaRPr lang="en-US" dirty="0"/>
          </a:p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endParaRPr lang="en-US" sz="1000" dirty="0">
              <a:solidFill>
                <a:srgbClr val="001135"/>
              </a:solidFill>
              <a:latin typeface="Nokia Pure Text Light" panose="020B0403020202020204" pitchFamily="34" charset="0"/>
            </a:endParaRP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BDFF836-1831-47C1-8A7B-F5FBDD2FD8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 flipH="1">
            <a:off x="8726399" y="1080000"/>
            <a:ext cx="45719" cy="3560400"/>
          </a:xfrm>
        </p:spPr>
        <p:txBody>
          <a:bodyPr/>
          <a:lstStyle/>
          <a:p>
            <a:pPr lvl="0" defTabSz="914400">
              <a:lnSpc>
                <a:spcPct val="100000"/>
              </a:lnSpc>
              <a:spcAft>
                <a:spcPts val="1200"/>
              </a:spcAft>
            </a:pPr>
            <a:r>
              <a:rPr lang="en-GB" sz="1000" dirty="0">
                <a:solidFill>
                  <a:srgbClr val="001135"/>
                </a:solidFill>
              </a:rPr>
              <a:t>  </a:t>
            </a:r>
          </a:p>
        </p:txBody>
      </p: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7D4F865-119B-473D-8ABC-DE3AA0307F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2304000" y="4816800"/>
            <a:ext cx="4536000" cy="122400"/>
          </a:xfrm>
        </p:spPr>
        <p:txBody>
          <a:bodyPr/>
          <a:lstStyle/>
          <a:p>
            <a:pPr algn="ctr"/>
            <a:r>
              <a:rPr lang="en-US" dirty="0">
                <a:cs typeface="Arial" panose="020B0604020202020204" pitchFamily="34" charset="0"/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18519794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6146475"/>
      </p:ext>
    </p:extLst>
  </p:cSld>
  <p:clrMapOvr>
    <a:masterClrMapping/>
  </p:clrMapOvr>
</p:sld>
</file>

<file path=ppt/theme/theme1.xml><?xml version="1.0" encoding="utf-8"?>
<a:theme xmlns:a="http://schemas.openxmlformats.org/drawingml/2006/main" name="1 White Master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Pure PowerPoint" id="{7BAB860A-E724-4F4A-99B4-1006A8C659F1}" vid="{FE952FBB-5457-4A32-BE2A-8D02ACC009B9}"/>
    </a:ext>
  </a:extLst>
</a:theme>
</file>

<file path=ppt/theme/theme2.xml><?xml version="1.0" encoding="utf-8"?>
<a:theme xmlns:a="http://schemas.openxmlformats.org/drawingml/2006/main" name="1_c 2018 Nokia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Nokia 2018">
      <a:majorFont>
        <a:latin typeface="Nokia Pure Headline Light"/>
        <a:ea typeface=""/>
        <a:cs typeface=""/>
      </a:majorFont>
      <a:minorFont>
        <a:latin typeface="Nokia Pure Text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ot="0" spcFirstLastPara="0" vertOverflow="overflow" horzOverflow="overflow" vert="horz" wrap="square" lIns="72000" tIns="72000" rIns="72000" bIns="72000" numCol="1" spcCol="0" rtlCol="0" fromWordArt="0" anchor="t" anchorCtr="0" forceAA="0" compatLnSpc="1">
        <a:prstTxWarp prst="textNoShape">
          <a:avLst/>
        </a:prstTxWarp>
        <a:noAutofit/>
      </a:bodyPr>
      <a:lstStyle>
        <a:defPPr algn="l">
          <a:spcAft>
            <a:spcPts val="300"/>
          </a:spcAft>
          <a:buSzPct val="100000"/>
          <a:defRPr sz="12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72000" tIns="72000" rIns="72000" bIns="72000" rtlCol="0">
        <a:noAutofit/>
      </a:bodyPr>
      <a:lstStyle>
        <a:defPPr algn="l">
          <a:spcAft>
            <a:spcPts val="300"/>
          </a:spcAft>
          <a:buSzPct val="100000"/>
          <a:defRPr sz="12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Nokia Pure PowerPoint" id="{7BAB860A-E724-4F4A-99B4-1006A8C659F1}" vid="{2FF4314B-668A-49AD-9774-BC143480C335}"/>
    </a:ext>
  </a:extLst>
</a:theme>
</file>

<file path=ppt/theme/theme3.xml><?xml version="1.0" encoding="utf-8"?>
<a:theme xmlns:a="http://schemas.openxmlformats.org/drawingml/2006/main" name="3_Blu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 Pure PowerPoint" id="{7BAB860A-E724-4F4A-99B4-1006A8C659F1}" vid="{5E366942-1386-43A1-A4AE-179B92C3E21C}"/>
    </a:ext>
  </a:extLst>
</a:theme>
</file>

<file path=ppt/theme/theme4.xml><?xml version="1.0" encoding="utf-8"?>
<a:theme xmlns:a="http://schemas.openxmlformats.org/drawingml/2006/main" name="4_Blue End Slid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 Pure PowerPoint" id="{7BAB860A-E724-4F4A-99B4-1006A8C659F1}" vid="{FD6C4E76-89B8-4BA5-9C01-02F76A5B8718}"/>
    </a:ext>
  </a:extLst>
</a:theme>
</file>

<file path=ppt/theme/theme5.xml><?xml version="1.0" encoding="utf-8"?>
<a:theme xmlns:a="http://schemas.openxmlformats.org/drawingml/2006/main" name="5_White End Slide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 Pure PowerPoint" id="{7BAB860A-E724-4F4A-99B4-1006A8C659F1}" vid="{075DBFAE-4D9C-465C-9E26-5CEFE93D3E5F}"/>
    </a:ext>
  </a:extLst>
</a:theme>
</file>

<file path=ppt/theme/theme6.xml><?xml version="1.0" encoding="utf-8"?>
<a:theme xmlns:a="http://schemas.openxmlformats.org/drawingml/2006/main" name="6_Gray">
  <a:themeElements>
    <a:clrScheme name="C 2018 Nokia">
      <a:dk1>
        <a:srgbClr val="124191"/>
      </a:dk1>
      <a:lt1>
        <a:srgbClr val="FFFFFF"/>
      </a:lt1>
      <a:dk2>
        <a:srgbClr val="001135"/>
      </a:dk2>
      <a:lt2>
        <a:srgbClr val="4D5766"/>
      </a:lt2>
      <a:accent1>
        <a:srgbClr val="98A2AE"/>
      </a:accent1>
      <a:accent2>
        <a:srgbClr val="BEC8D2"/>
      </a:accent2>
      <a:accent3>
        <a:srgbClr val="00C9FF"/>
      </a:accent3>
      <a:accent4>
        <a:srgbClr val="FF3154"/>
      </a:accent4>
      <a:accent5>
        <a:srgbClr val="FFFB00"/>
      </a:accent5>
      <a:accent6>
        <a:srgbClr val="4BDD33"/>
      </a:accent6>
      <a:hlink>
        <a:srgbClr val="124191"/>
      </a:hlink>
      <a:folHlink>
        <a:srgbClr val="00113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okia Pure PowerPoint" id="{7BAB860A-E724-4F4A-99B4-1006A8C659F1}" vid="{0CCAEB13-9316-4900-BA03-AE0C1C45B73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item1.xml><?xml version="1.0" encoding="utf-8"?>
<?mso-contentType ?>
<SharedContentType xmlns="Microsoft.SharePoint.Taxonomy.ContentTypeSync" SourceId="34c87397-5fc1-491e-85e7-d6110dbe9cbd" ContentTypeId="0x010100CE50E52E7543470BBDD3827FE50C59CB" PreviousValue="false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Owner xmlns="71c5aaf6-e6ce-465b-b873-5148d2a4c105">Spen Spencer</Owner>
    <DocumentType xmlns="71c5aaf6-e6ce-465b-b873-5148d2a4c105">Description</DocumentType>
    <NokiaConfidentiality xmlns="71c5aaf6-e6ce-465b-b873-5148d2a4c105">Nokia Internal Use</NokiaConfidentiality>
    <HideFromDelve xmlns="71c5aaf6-e6ce-465b-b873-5148d2a4c105">false</HideFromDelve>
    <_dlc_DocId xmlns="71c5aaf6-e6ce-465b-b873-5148d2a4c105">QBI5PMBIL2NS-1242730160-2174</_dlc_DocId>
    <_dlc_DocIdUrl xmlns="71c5aaf6-e6ce-465b-b873-5148d2a4c105">
      <Url>https://nokia.sharepoint.com/sites/brandstore/_layouts/15/DocIdRedir.aspx?ID=QBI5PMBIL2NS-1242730160-2174</Url>
      <Description>QBI5PMBIL2NS-1242730160-2174</Description>
    </_dlc_DocIdUrl>
  </documentManagement>
</p:properties>
</file>

<file path=customXml/item3.xml><?xml version="1.0" encoding="utf-8"?>
<?mso-contentType ?>
<customXsn xmlns="http://schemas.microsoft.com/office/2006/metadata/customXsn">
  <xsnLocation/>
  <cached>True</cached>
  <openByDefault>True</openByDefault>
  <xsnScope/>
</customXsn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5.xml><?xml version="1.0" encoding="utf-8"?>
<ct:contentTypeSchema xmlns:ct="http://schemas.microsoft.com/office/2006/metadata/contentType" xmlns:ma="http://schemas.microsoft.com/office/2006/metadata/properties/metaAttributes" ct:_="" ma:_="" ma:contentTypeName="Nokia Document" ma:contentTypeID="0x010100CE50E52E7543470BBDD3827FE50C59CB00F28B616FD8C77D40956A924538277F24" ma:contentTypeVersion="26" ma:contentTypeDescription="Create Nokia Word Document" ma:contentTypeScope="" ma:versionID="e748e768b5f12442eb78c8be45fb97e9">
  <xsd:schema xmlns:xsd="http://www.w3.org/2001/XMLSchema" xmlns:xs="http://www.w3.org/2001/XMLSchema" xmlns:p="http://schemas.microsoft.com/office/2006/metadata/properties" xmlns:ns2="71c5aaf6-e6ce-465b-b873-5148d2a4c105" targetNamespace="http://schemas.microsoft.com/office/2006/metadata/properties" ma:root="true" ma:fieldsID="d227a082cf3b963ed6b37ce080f4d67b" ns2:_="">
    <xsd:import namespace="71c5aaf6-e6ce-465b-b873-5148d2a4c105"/>
    <xsd:element name="properties">
      <xsd:complexType>
        <xsd:sequence>
          <xsd:element name="documentManagement">
            <xsd:complexType>
              <xsd:all>
                <xsd:element ref="ns2:DocumentType" minOccurs="0"/>
                <xsd:element ref="ns2:NokiaConfidentiality" minOccurs="0"/>
                <xsd:element ref="ns2:Owner" minOccurs="0"/>
                <xsd:element ref="ns2:_dlc_DocId" minOccurs="0"/>
                <xsd:element ref="ns2:_dlc_DocIdUrl" minOccurs="0"/>
                <xsd:element ref="ns2:_dlc_DocIdPersistId" minOccurs="0"/>
                <xsd:element ref="ns2:HideFromDelv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c5aaf6-e6ce-465b-b873-5148d2a4c105" elementFormDefault="qualified">
    <xsd:import namespace="http://schemas.microsoft.com/office/2006/documentManagement/types"/>
    <xsd:import namespace="http://schemas.microsoft.com/office/infopath/2007/PartnerControls"/>
    <xsd:element name="DocumentType" ma:index="8" nillable="true" ma:displayName="Document Type" ma:default="Description" ma:description="Document type specifies the content of the document" ma:format="Dropdown" ma:internalName="DocumentType" ma:readOnly="false">
      <xsd:simpleType>
        <xsd:restriction base="dms:Choice">
          <xsd:enumeration value="Policy"/>
          <xsd:enumeration value="Strategy"/>
          <xsd:enumeration value="Objectives / Targets"/>
          <xsd:enumeration value="Plan / Schedule"/>
          <xsd:enumeration value="Governance"/>
          <xsd:enumeration value="Organization"/>
          <xsd:enumeration value="Review Material"/>
          <xsd:enumeration value="Communication"/>
          <xsd:enumeration value="Minutes"/>
          <xsd:enumeration value="Training"/>
          <xsd:enumeration value="Standard Operating Procedure"/>
          <xsd:enumeration value="Process / Procedure / Standard"/>
          <xsd:enumeration value="Guideline / Manual / Instruction"/>
          <xsd:enumeration value="Description"/>
          <xsd:enumeration value="Form / Template"/>
          <xsd:enumeration value="Checklist"/>
          <xsd:enumeration value="Bid / Offer"/>
          <xsd:enumeration value="Contract / Order"/>
          <xsd:enumeration value="List"/>
          <xsd:enumeration value="Roadmap"/>
          <xsd:enumeration value="Requirement / Specification"/>
          <xsd:enumeration value="Design"/>
          <xsd:enumeration value="Concept / Proposal"/>
          <xsd:enumeration value="Measurement / KPI"/>
          <xsd:enumeration value="Report"/>
          <xsd:enumeration value="Best Practice / Lessons Learnt"/>
          <xsd:enumeration value="Analysis / Assessment"/>
          <xsd:enumeration value="Survey"/>
        </xsd:restriction>
      </xsd:simpleType>
    </xsd:element>
    <xsd:element name="NokiaConfidentiality" ma:index="9" nillable="true" ma:displayName="Nokia Confidentiality" ma:default="Nokia Internal Use" ma:format="Dropdown" ma:internalName="NokiaConfidentiality" ma:readOnly="false">
      <xsd:simpleType>
        <xsd:restriction base="dms:Choice">
          <xsd:enumeration value="Nokia Internal Use"/>
          <xsd:enumeration value="Confidential"/>
          <xsd:enumeration value="Secret"/>
          <xsd:enumeration value="Public"/>
        </xsd:restriction>
      </xsd:simpleType>
    </xsd:element>
    <xsd:element name="Owner" ma:index="10" nillable="true" ma:displayName="Owner" ma:description="Owner identifies the person or group who owns the document (default value is the same as the Creator of the document)" ma:internalName="Owner">
      <xsd:simpleType>
        <xsd:restriction base="dms:Text"/>
      </xsd:simpleType>
    </xsd:element>
    <xsd:element name="_dlc_DocId" ma:index="11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12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3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HideFromDelve" ma:index="14" nillable="true" ma:displayName="HideFromDelve" ma:default="0" ma:internalName="HideFromDelv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6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B69FDC28-DDA5-440E-9BA4-E68BD29F4D24}">
  <ds:schemaRefs>
    <ds:schemaRef ds:uri="Microsoft.SharePoint.Taxonomy.ContentTypeSync"/>
  </ds:schemaRefs>
</ds:datastoreItem>
</file>

<file path=customXml/itemProps2.xml><?xml version="1.0" encoding="utf-8"?>
<ds:datastoreItem xmlns:ds="http://schemas.openxmlformats.org/officeDocument/2006/customXml" ds:itemID="{F1A5087E-D875-4389-9B23-8434F51180AC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71c5aaf6-e6ce-465b-b873-5148d2a4c105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13512BF-786C-44BC-9179-48F650BCBA3C}">
  <ds:schemaRefs>
    <ds:schemaRef ds:uri="http://schemas.microsoft.com/office/2006/metadata/customXsn"/>
  </ds:schemaRefs>
</ds:datastoreItem>
</file>

<file path=customXml/itemProps4.xml><?xml version="1.0" encoding="utf-8"?>
<ds:datastoreItem xmlns:ds="http://schemas.openxmlformats.org/officeDocument/2006/customXml" ds:itemID="{9DED2D23-3C7F-41E8-ACA8-DA4828291003}">
  <ds:schemaRefs>
    <ds:schemaRef ds:uri="http://schemas.microsoft.com/sharepoint/v3/contenttype/forms"/>
  </ds:schemaRefs>
</ds:datastoreItem>
</file>

<file path=customXml/itemProps5.xml><?xml version="1.0" encoding="utf-8"?>
<ds:datastoreItem xmlns:ds="http://schemas.openxmlformats.org/officeDocument/2006/customXml" ds:itemID="{22DD24AF-F947-4A1E-AE57-D42B59C8C63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c5aaf6-e6ce-465b-b873-5148d2a4c1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6.xml><?xml version="1.0" encoding="utf-8"?>
<ds:datastoreItem xmlns:ds="http://schemas.openxmlformats.org/officeDocument/2006/customXml" ds:itemID="{5BDB0496-1A1D-4B21-BC76-DDA1AAE9922B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Nokia Pure PowerPoint</Template>
  <TotalTime>7590</TotalTime>
  <Words>682</Words>
  <Application>Microsoft Office PowerPoint</Application>
  <PresentationFormat>On-screen Show (16:9)</PresentationFormat>
  <Paragraphs>123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12</vt:i4>
      </vt:variant>
    </vt:vector>
  </HeadingPairs>
  <TitlesOfParts>
    <vt:vector size="29" baseType="lpstr">
      <vt:lpstr>Arial</vt:lpstr>
      <vt:lpstr>Calibri</vt:lpstr>
      <vt:lpstr>Calibri Light</vt:lpstr>
      <vt:lpstr>Consolas</vt:lpstr>
      <vt:lpstr>Nokia Pure Headline Light</vt:lpstr>
      <vt:lpstr>Nokia Pure Headline Ultra Light</vt:lpstr>
      <vt:lpstr>Nokia Pure Text</vt:lpstr>
      <vt:lpstr>Nokia Pure Text Light</vt:lpstr>
      <vt:lpstr>Tahoma</vt:lpstr>
      <vt:lpstr>Trebuchet MS</vt:lpstr>
      <vt:lpstr>Wingdings</vt:lpstr>
      <vt:lpstr>1 White Master</vt:lpstr>
      <vt:lpstr>1_c 2018 Nokia</vt:lpstr>
      <vt:lpstr>3_Blue</vt:lpstr>
      <vt:lpstr>4_Blue End Slide</vt:lpstr>
      <vt:lpstr>5_White End Slide</vt:lpstr>
      <vt:lpstr>6_Gray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Paunel, Adina (Nokia - RO/Timisoara)</dc:creator>
  <cp:lastModifiedBy>Marius Dumuta</cp:lastModifiedBy>
  <cp:revision>22</cp:revision>
  <dcterms:created xsi:type="dcterms:W3CDTF">2018-04-27T11:57:31Z</dcterms:created>
  <dcterms:modified xsi:type="dcterms:W3CDTF">2020-07-26T15:39:07Z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0x010100CE50E52E7543470BBDD3827FE50C59CB00F28B616FD8C77D40956A924538277F24</vt:lpwstr>
  </property>
  <property fmtid="{D5CDD505-2E9C-101B-9397-08002B2CF9AE}" pid="3" name="_dlc_DocIdItemGuid">
    <vt:lpwstr>585e251e-0a12-4df1-83c2-742055ca9cb7</vt:lpwstr>
  </property>
  <property fmtid="{D5CDD505-2E9C-101B-9397-08002B2CF9AE}" pid="4" name="SharedWithUsers">
    <vt:lpwstr>30470;#Mion, Marcello (Nokia - IT/Vimercate);#21237;#Greijula, Sirkku (Nokia - FI/Tampere);#22035;#Gupta, Uvnik (Nokia - IN/Bangalore);#12061;#Che Haron, Firdaus (Nokia - MY/Kuala Lumpur);#2894;#Martins Joao Cruz, Catarina (Nokia - DE/Munich)</vt:lpwstr>
  </property>
  <property fmtid="{D5CDD505-2E9C-101B-9397-08002B2CF9AE}" pid="5" name="MSIP_Label_4327cfd9-47ed-48f1-9376-4ab3148935bb_Enabled">
    <vt:lpwstr>True</vt:lpwstr>
  </property>
  <property fmtid="{D5CDD505-2E9C-101B-9397-08002B2CF9AE}" pid="6" name="MSIP_Label_4327cfd9-47ed-48f1-9376-4ab3148935bb_SiteId">
    <vt:lpwstr>5d471751-9675-428d-917b-70f44f9630b0</vt:lpwstr>
  </property>
  <property fmtid="{D5CDD505-2E9C-101B-9397-08002B2CF9AE}" pid="7" name="MSIP_Label_4327cfd9-47ed-48f1-9376-4ab3148935bb_Owner">
    <vt:lpwstr>andrada.vadean@nokia.com</vt:lpwstr>
  </property>
  <property fmtid="{D5CDD505-2E9C-101B-9397-08002B2CF9AE}" pid="8" name="MSIP_Label_4327cfd9-47ed-48f1-9376-4ab3148935bb_SetDate">
    <vt:lpwstr>2019-04-01T06:28:28.2513777Z</vt:lpwstr>
  </property>
  <property fmtid="{D5CDD505-2E9C-101B-9397-08002B2CF9AE}" pid="9" name="MSIP_Label_4327cfd9-47ed-48f1-9376-4ab3148935bb_Name">
    <vt:lpwstr>Personal</vt:lpwstr>
  </property>
  <property fmtid="{D5CDD505-2E9C-101B-9397-08002B2CF9AE}" pid="10" name="MSIP_Label_4327cfd9-47ed-48f1-9376-4ab3148935bb_Application">
    <vt:lpwstr>Microsoft Azure Information Protection</vt:lpwstr>
  </property>
  <property fmtid="{D5CDD505-2E9C-101B-9397-08002B2CF9AE}" pid="11" name="MSIP_Label_4327cfd9-47ed-48f1-9376-4ab3148935bb_Extended_MSFT_Method">
    <vt:lpwstr>Manual</vt:lpwstr>
  </property>
  <property fmtid="{D5CDD505-2E9C-101B-9397-08002B2CF9AE}" pid="12" name="Sensitivity">
    <vt:lpwstr>Personal</vt:lpwstr>
  </property>
</Properties>
</file>